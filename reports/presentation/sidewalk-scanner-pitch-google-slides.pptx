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1.jpeg" ContentType="image/jpeg"/>
  <Override PartName="/ppt/media/image9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1.png" ContentType="image/png"/>
  <Override PartName="/ppt/media/image3.jpeg" ContentType="image/jpeg"/>
  <Override PartName="/ppt/media/image2.jpeg" ContentType="image/jpeg"/>
  <Override PartName="/ppt/media/image4.jpeg" ContentType="image/jpeg"/>
  <Override PartName="/ppt/media/image5.jpeg" ContentType="image/jpeg"/>
  <Override PartName="/ppt/media/image6.png" ContentType="image/png"/>
  <Override PartName="/ppt/media/image18.png" ContentType="image/png"/>
  <Override PartName="/ppt/media/image7.jpeg" ContentType="image/jpeg"/>
  <Override PartName="/ppt/media/image12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A56997-2391-4294-95CD-EFFF053EA4C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(about 45 seconds)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Hi, we're Team YOLO, and this is Sidewalk Scanner.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Sidewalk barriers hit nineteen thousand Pittsburghers who struggle to walk, fifty-five thousand seniors, fifteen thousand kids in strollers, and their caregivers.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One missing curb ramp, or a pole in the sidewalk, and a wheelchair can't get through.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The City needs these barriers for its new ADA plan, but finding them is slow.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Walking surveys cost sixteen hundred dollars a mile.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Checking Street View by hand covers about six miles a week per person.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After six years, only seventeen percent of Pittsburgh is checked. That's the teal on the map.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A model is far faster: ours checked twenty-one thousand photos in under ten minutes.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A2B909-09E6-4D3E-955D-42BA2650185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(about 25 seconds)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Here's how it works.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A street photo goes in, and the model says: missing curb ramp, obstacle, surface problem, or no barrier.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Every photo has GPS, so we know exactly where each barrier is.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Each barrier then gets a tier. Tier one is near hospitals, schools and busy bus stops.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So instead of waiting years, the City gets one citywide list, and planners check Tier one first.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660474-2CB6-4DDD-9645-2DB3B397213E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(about 30 seconds)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don't have to label anything to start.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Project Sidewalk has published about twenty-one thousand street photos from nineteen cities, each voted on by the crowd.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train on eighteen cities and test on Pittsburgh's five hundred fifty-nine photos.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Pittsburgh's Project Sidewalk data tells us where each photo is.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City open data on hospitals, schools and bus stops gives us the tiers.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also have RampNet, about two hundred fourteen thousand panoramas, but it only tells us whether a curb ramp is there.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ACDAEE-07F9-485E-B6AC-C7B20139DC8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(about 35 seconds)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score it only on Pittsburgh, with two questions for each tier.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Found: of the real barriers, how many did we catch?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Right: of our flags, how many are real?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For the truth, we use five hundred fifty-nine Pittsburgh photos the model never sees in training.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hand-label three hundred Mapillary photos, and we visit sampled spots to check them ourselves.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Our targets: at least eighty percent of Tier one flags are real, and we catch more obstacles and surface problems than human labellers.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2DD249-6D9B-47A3-9250-E9DD08367E4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(about 35 seconds)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Our biggest risk is that a model trained in other cities won't work here.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RampNet comes from New York, Portland and Bend, but Pittsburgh has hills, over a thousand public stairways, and brick sidewalks.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That's why we test only on Pittsburgh and check spots in person.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 also don't know yet how many unaudited streets have usable photos.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And labels are sparse: a barrier is labelled once, but shows up in many photos.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•  </a:t>
            </a:r>
            <a:r>
              <a:rPr b="0" lang="en-US" sz="2000" spc="-1" strike="noStrike">
                <a:latin typeface="Arial"/>
              </a:rPr>
              <a:t>We'd love help with imagery, a DOMI planner, disability advocates, and GPU time. Thank you!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EF7928-7EEE-42BE-99C3-845B8ADFAE8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5F025D-BD81-4F69-B3AD-8EC6552B51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C545F-1AD2-49B9-9341-9F00C720DC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CE8EC3-D941-40B6-B1D4-7758B3621E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09481-AF81-4495-8028-1F32F5E029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793CB1-DC48-4E48-AB36-573716C57C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A104C9-28E2-41AE-8478-2F66A1F924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211D1-8507-4624-84B9-7661D9FDE1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8A1E43-B525-40CE-91FC-AC24A2989B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17B98C-7BC6-46D0-81FB-498FE6E3AD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C5F875-0665-4889-B509-FE68748B46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2994E3-0D82-4CD9-AA95-462D8B33F4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5F7BD1-FB91-4540-BE88-221064C105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155834-8112-4CBD-8836-18C4610A6C5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jpeg"/><Relationship Id="rId8" Type="http://schemas.openxmlformats.org/officeDocument/2006/relationships/image" Target="../media/image14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54864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77" strike="noStrike">
                <a:solidFill>
                  <a:srgbClr val="0f766e"/>
                </a:solidFill>
                <a:latin typeface="Calibri"/>
              </a:rPr>
              <a:t>01   </a:t>
            </a:r>
            <a:r>
              <a:rPr b="1" lang="en-US" sz="1200" spc="77" strike="noStrike">
                <a:solidFill>
                  <a:srgbClr val="6b7280"/>
                </a:solidFill>
                <a:latin typeface="Calibri"/>
              </a:rPr>
              <a:t>THE PROBLEM  ·  WHO HAS IT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4754880" y="329040"/>
            <a:ext cx="688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Team YOLO  ·  Aditya Katkuri  ·  Prateik Sinha  ·  Giridhar Vadhul  ·  JS Durand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48640" y="60336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</a:rPr>
              <a:t>Pittsburgh still finds sidewalk barriers by hand, and it's slow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11045880" y="654696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</a:rPr>
              <a:t>1 / 5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1" name="Picture 5" descr="map_coverage.png"/>
          <p:cNvPicPr/>
          <p:nvPr/>
        </p:nvPicPr>
        <p:blipFill>
          <a:blip r:embed="rId1"/>
          <a:stretch/>
        </p:blipFill>
        <p:spPr>
          <a:xfrm>
            <a:off x="320040" y="1463040"/>
            <a:ext cx="5943240" cy="4699800"/>
          </a:xfrm>
          <a:prstGeom prst="rect">
            <a:avLst/>
          </a:prstGeom>
          <a:ln w="0">
            <a:noFill/>
          </a:ln>
        </p:spPr>
      </p:pic>
      <p:sp>
        <p:nvSpPr>
          <p:cNvPr id="52" name="TextBox 6"/>
          <p:cNvSpPr/>
          <p:nvPr/>
        </p:nvSpPr>
        <p:spPr>
          <a:xfrm>
            <a:off x="411480" y="1508760"/>
            <a:ext cx="1371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0f766e"/>
                </a:solidFill>
                <a:latin typeface="Calibri"/>
              </a:rPr>
              <a:t>17%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of streets checked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by hand in 6 years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6446520" y="1417320"/>
            <a:ext cx="5193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HOW BARRIERS ARE FOUND TODAY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4" name="Rounded Rectangle 8"/>
          <p:cNvSpPr/>
          <p:nvPr/>
        </p:nvSpPr>
        <p:spPr>
          <a:xfrm>
            <a:off x="6446520" y="1737360"/>
            <a:ext cx="5193360" cy="566640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Box 9"/>
          <p:cNvSpPr/>
          <p:nvPr/>
        </p:nvSpPr>
        <p:spPr>
          <a:xfrm>
            <a:off x="6629400" y="18014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On foot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629400" y="20574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7280"/>
                </a:solidFill>
                <a:latin typeface="Calibri"/>
              </a:rPr>
              <a:t>A surveyor walks every block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9372600" y="178308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11827"/>
                </a:solidFill>
                <a:latin typeface="Calibri"/>
              </a:rPr>
              <a:t>$1,600 / mile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9372600" y="2066400"/>
            <a:ext cx="208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</a:rPr>
              <a:t>field survey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59" name="Rounded Rectangle 13"/>
          <p:cNvSpPr/>
          <p:nvPr/>
        </p:nvSpPr>
        <p:spPr>
          <a:xfrm>
            <a:off x="6446520" y="2377440"/>
            <a:ext cx="5193360" cy="566640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Box 14"/>
          <p:cNvSpPr/>
          <p:nvPr/>
        </p:nvSpPr>
        <p:spPr>
          <a:xfrm>
            <a:off x="6629400" y="24415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Street View, by hand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6629400" y="269748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7280"/>
                </a:solidFill>
                <a:latin typeface="Calibri"/>
              </a:rPr>
              <a:t>People click through panoramas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9372600" y="242316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111827"/>
                </a:solidFill>
                <a:latin typeface="Calibri"/>
              </a:rPr>
              <a:t>$64 / mile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7"/>
          <p:cNvSpPr/>
          <p:nvPr/>
        </p:nvSpPr>
        <p:spPr>
          <a:xfrm>
            <a:off x="9372600" y="2706480"/>
            <a:ext cx="208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</a:rPr>
              <a:t>≈ </a:t>
            </a:r>
            <a:r>
              <a:rPr b="0" lang="en-US" sz="1050" spc="-1" strike="noStrike">
                <a:solidFill>
                  <a:srgbClr val="6b7280"/>
                </a:solidFill>
                <a:latin typeface="Calibri"/>
              </a:rPr>
              <a:t>6 miles per staff-week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4" name="Rounded Rectangle 18"/>
          <p:cNvSpPr/>
          <p:nvPr/>
        </p:nvSpPr>
        <p:spPr>
          <a:xfrm>
            <a:off x="6446520" y="3017520"/>
            <a:ext cx="5193360" cy="566640"/>
          </a:xfrm>
          <a:prstGeom prst="roundRect">
            <a:avLst>
              <a:gd name="adj" fmla="val 12903"/>
            </a:avLst>
          </a:prstGeom>
          <a:solidFill>
            <a:srgbClr val="e6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Box 19"/>
          <p:cNvSpPr/>
          <p:nvPr/>
        </p:nvSpPr>
        <p:spPr>
          <a:xfrm>
            <a:off x="6629400" y="30816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766e"/>
                </a:solidFill>
                <a:latin typeface="Calibri"/>
              </a:rPr>
              <a:t>Automated sweep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6" name="TextBox 20"/>
          <p:cNvSpPr/>
          <p:nvPr/>
        </p:nvSpPr>
        <p:spPr>
          <a:xfrm>
            <a:off x="6629400" y="33375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50" spc="-1" strike="noStrike">
                <a:solidFill>
                  <a:srgbClr val="6b7280"/>
                </a:solidFill>
                <a:latin typeface="Calibri"/>
              </a:rPr>
              <a:t>A model checks every photo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67" name="TextBox 21"/>
          <p:cNvSpPr/>
          <p:nvPr/>
        </p:nvSpPr>
        <p:spPr>
          <a:xfrm>
            <a:off x="9372600" y="3063240"/>
            <a:ext cx="2084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766e"/>
                </a:solidFill>
                <a:latin typeface="Calibri"/>
              </a:rPr>
              <a:t>21,071 photos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TextBox 22"/>
          <p:cNvSpPr/>
          <p:nvPr/>
        </p:nvSpPr>
        <p:spPr>
          <a:xfrm>
            <a:off x="9372600" y="3346560"/>
            <a:ext cx="2084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6b7280"/>
                </a:solidFill>
                <a:latin typeface="Calibri"/>
              </a:rPr>
              <a:t>checked in under 10 minutes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69" name="Picture 23" descr="ncr_1779.jpg"/>
          <p:cNvPicPr/>
          <p:nvPr/>
        </p:nvPicPr>
        <p:blipFill>
          <a:blip r:embed="rId2"/>
          <a:stretch/>
        </p:blipFill>
        <p:spPr>
          <a:xfrm>
            <a:off x="6446520" y="3730680"/>
            <a:ext cx="1481040" cy="1481040"/>
          </a:xfrm>
          <a:prstGeom prst="rect">
            <a:avLst/>
          </a:prstGeom>
          <a:ln w="0">
            <a:noFill/>
          </a:ln>
        </p:spPr>
      </p:pic>
      <p:sp>
        <p:nvSpPr>
          <p:cNvPr id="70" name="TextBox 24"/>
          <p:cNvSpPr/>
          <p:nvPr/>
        </p:nvSpPr>
        <p:spPr>
          <a:xfrm>
            <a:off x="6355080" y="52394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</a:rPr>
              <a:t>Missing curb ramp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71" name="Picture 25" descr="obs_10574.jpg"/>
          <p:cNvPicPr/>
          <p:nvPr/>
        </p:nvPicPr>
        <p:blipFill>
          <a:blip r:embed="rId3"/>
          <a:stretch/>
        </p:blipFill>
        <p:spPr>
          <a:xfrm>
            <a:off x="8302680" y="3730680"/>
            <a:ext cx="1481040" cy="1481040"/>
          </a:xfrm>
          <a:prstGeom prst="rect">
            <a:avLst/>
          </a:prstGeom>
          <a:ln w="0">
            <a:noFill/>
          </a:ln>
        </p:spPr>
      </p:pic>
      <p:sp>
        <p:nvSpPr>
          <p:cNvPr id="72" name="TextBox 26"/>
          <p:cNvSpPr/>
          <p:nvPr/>
        </p:nvSpPr>
        <p:spPr>
          <a:xfrm>
            <a:off x="8211240" y="52394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</a:rPr>
              <a:t>Obstacle</a:t>
            </a:r>
            <a:endParaRPr b="0" lang="en-US" sz="1300" spc="-1" strike="noStrike">
              <a:latin typeface="Arial"/>
            </a:endParaRPr>
          </a:p>
        </p:txBody>
      </p:sp>
      <p:pic>
        <p:nvPicPr>
          <p:cNvPr id="73" name="Picture 27" descr="sfc_14216.jpg"/>
          <p:cNvPicPr/>
          <p:nvPr/>
        </p:nvPicPr>
        <p:blipFill>
          <a:blip r:embed="rId4"/>
          <a:stretch/>
        </p:blipFill>
        <p:spPr>
          <a:xfrm>
            <a:off x="10158840" y="3730680"/>
            <a:ext cx="1481040" cy="1481040"/>
          </a:xfrm>
          <a:prstGeom prst="rect">
            <a:avLst/>
          </a:prstGeom>
          <a:ln w="0">
            <a:noFill/>
          </a:ln>
        </p:spPr>
      </p:pic>
      <p:sp>
        <p:nvSpPr>
          <p:cNvPr id="74" name="TextBox 28"/>
          <p:cNvSpPr/>
          <p:nvPr/>
        </p:nvSpPr>
        <p:spPr>
          <a:xfrm>
            <a:off x="10067400" y="5239440"/>
            <a:ext cx="1663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</a:rPr>
              <a:t>Surface problem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5" name="TextBox 29"/>
          <p:cNvSpPr/>
          <p:nvPr/>
        </p:nvSpPr>
        <p:spPr>
          <a:xfrm>
            <a:off x="6446520" y="5577840"/>
            <a:ext cx="5193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WHO GETS STUCK, AND THEIR CAREGIVERS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Rounded Rectangle 30"/>
          <p:cNvSpPr/>
          <p:nvPr/>
        </p:nvSpPr>
        <p:spPr>
          <a:xfrm>
            <a:off x="6446520" y="5870520"/>
            <a:ext cx="1670040" cy="6580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Box 31"/>
          <p:cNvSpPr/>
          <p:nvPr/>
        </p:nvSpPr>
        <p:spPr>
          <a:xfrm>
            <a:off x="6574680" y="5906880"/>
            <a:ext cx="148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766e"/>
                </a:solidFill>
                <a:latin typeface="Calibri"/>
              </a:rPr>
              <a:t>19,194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8" name="TextBox 32"/>
          <p:cNvSpPr/>
          <p:nvPr/>
        </p:nvSpPr>
        <p:spPr>
          <a:xfrm>
            <a:off x="6574680" y="6217920"/>
            <a:ext cx="148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</a:rPr>
              <a:t>struggle to walk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Rounded Rectangle 33"/>
          <p:cNvSpPr/>
          <p:nvPr/>
        </p:nvSpPr>
        <p:spPr>
          <a:xfrm>
            <a:off x="8208360" y="5870520"/>
            <a:ext cx="1670040" cy="6580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Box 34"/>
          <p:cNvSpPr/>
          <p:nvPr/>
        </p:nvSpPr>
        <p:spPr>
          <a:xfrm>
            <a:off x="8336160" y="5906880"/>
            <a:ext cx="148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766e"/>
                </a:solidFill>
                <a:latin typeface="Calibri"/>
              </a:rPr>
              <a:t>54,826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Box 35"/>
          <p:cNvSpPr/>
          <p:nvPr/>
        </p:nvSpPr>
        <p:spPr>
          <a:xfrm>
            <a:off x="8336160" y="6217920"/>
            <a:ext cx="148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</a:rPr>
              <a:t>seniors, 65 and over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2" name="Rounded Rectangle 36"/>
          <p:cNvSpPr/>
          <p:nvPr/>
        </p:nvSpPr>
        <p:spPr>
          <a:xfrm>
            <a:off x="9969840" y="5870520"/>
            <a:ext cx="1670040" cy="6580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Box 37"/>
          <p:cNvSpPr/>
          <p:nvPr/>
        </p:nvSpPr>
        <p:spPr>
          <a:xfrm>
            <a:off x="10098000" y="5906880"/>
            <a:ext cx="1487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f766e"/>
                </a:solidFill>
                <a:latin typeface="Calibri"/>
              </a:rPr>
              <a:t>14,733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38"/>
          <p:cNvSpPr/>
          <p:nvPr/>
        </p:nvSpPr>
        <p:spPr>
          <a:xfrm>
            <a:off x="10098000" y="6217920"/>
            <a:ext cx="148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74151"/>
                </a:solidFill>
                <a:latin typeface="Calibri"/>
              </a:rPr>
              <a:t>kids under 5, in strollers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54864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77" strike="noStrike">
                <a:solidFill>
                  <a:srgbClr val="0f766e"/>
                </a:solidFill>
                <a:latin typeface="Calibri"/>
              </a:rPr>
              <a:t>02   </a:t>
            </a:r>
            <a:r>
              <a:rPr b="1" lang="en-US" sz="1200" spc="77" strike="noStrike">
                <a:solidFill>
                  <a:srgbClr val="6b7280"/>
                </a:solidFill>
                <a:latin typeface="Calibri"/>
              </a:rPr>
              <a:t>WHAT WE BUILD  ·  WHAT CHANGES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754880" y="329040"/>
            <a:ext cx="688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Sidewalk Scanner  ·  Team YOLO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548640" y="60336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</a:rPr>
              <a:t>We turn street photos into a barrier list, sorted by tier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11045880" y="654696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</a:rPr>
              <a:t>2 / 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548640" y="1444680"/>
            <a:ext cx="194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766e"/>
                </a:solidFill>
                <a:latin typeface="Calibri"/>
              </a:rPr>
              <a:t>1  </a:t>
            </a: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Photo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0" name="Connector 6"/>
          <p:cNvSpPr/>
          <p:nvPr/>
        </p:nvSpPr>
        <p:spPr>
          <a:xfrm>
            <a:off x="2560320" y="2770560"/>
            <a:ext cx="210240" cy="360"/>
          </a:xfrm>
          <a:prstGeom prst="line">
            <a:avLst/>
          </a:prstGeom>
          <a:ln w="2540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Box 7"/>
          <p:cNvSpPr/>
          <p:nvPr/>
        </p:nvSpPr>
        <p:spPr>
          <a:xfrm>
            <a:off x="2834640" y="1444680"/>
            <a:ext cx="194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766e"/>
                </a:solidFill>
                <a:latin typeface="Calibri"/>
              </a:rPr>
              <a:t>2  </a:t>
            </a: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Classify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2" name="Connector 8"/>
          <p:cNvSpPr/>
          <p:nvPr/>
        </p:nvSpPr>
        <p:spPr>
          <a:xfrm>
            <a:off x="4846320" y="2770560"/>
            <a:ext cx="210240" cy="360"/>
          </a:xfrm>
          <a:prstGeom prst="line">
            <a:avLst/>
          </a:prstGeom>
          <a:ln w="2540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9"/>
          <p:cNvSpPr/>
          <p:nvPr/>
        </p:nvSpPr>
        <p:spPr>
          <a:xfrm>
            <a:off x="5120640" y="1444680"/>
            <a:ext cx="194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766e"/>
                </a:solidFill>
                <a:latin typeface="Calibri"/>
              </a:rPr>
              <a:t>3  </a:t>
            </a: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Locate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4" name="Connector 10"/>
          <p:cNvSpPr/>
          <p:nvPr/>
        </p:nvSpPr>
        <p:spPr>
          <a:xfrm>
            <a:off x="7132320" y="2770560"/>
            <a:ext cx="210240" cy="360"/>
          </a:xfrm>
          <a:prstGeom prst="line">
            <a:avLst/>
          </a:prstGeom>
          <a:ln w="2540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Box 11"/>
          <p:cNvSpPr/>
          <p:nvPr/>
        </p:nvSpPr>
        <p:spPr>
          <a:xfrm>
            <a:off x="7406640" y="1444680"/>
            <a:ext cx="194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766e"/>
                </a:solidFill>
                <a:latin typeface="Calibri"/>
              </a:rPr>
              <a:t>4  </a:t>
            </a: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Tier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Connector 12"/>
          <p:cNvSpPr/>
          <p:nvPr/>
        </p:nvSpPr>
        <p:spPr>
          <a:xfrm>
            <a:off x="9418320" y="2770560"/>
            <a:ext cx="210240" cy="360"/>
          </a:xfrm>
          <a:prstGeom prst="line">
            <a:avLst/>
          </a:prstGeom>
          <a:ln w="25400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Box 13"/>
          <p:cNvSpPr/>
          <p:nvPr/>
        </p:nvSpPr>
        <p:spPr>
          <a:xfrm>
            <a:off x="9692640" y="1444680"/>
            <a:ext cx="1947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f766e"/>
                </a:solidFill>
                <a:latin typeface="Calibri"/>
              </a:rPr>
              <a:t>5  </a:t>
            </a: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Worklist</a:t>
            </a:r>
            <a:endParaRPr b="0" lang="en-US" sz="1600" spc="-1" strike="noStrike">
              <a:latin typeface="Arial"/>
            </a:endParaRPr>
          </a:p>
        </p:txBody>
      </p:sp>
      <p:pic>
        <p:nvPicPr>
          <p:cNvPr id="98" name="Picture 14" descr="ncr_23869.jpg"/>
          <p:cNvPicPr/>
          <p:nvPr/>
        </p:nvPicPr>
        <p:blipFill>
          <a:blip r:embed="rId1"/>
          <a:stretch/>
        </p:blipFill>
        <p:spPr>
          <a:xfrm>
            <a:off x="562320" y="1810440"/>
            <a:ext cx="1919880" cy="1919880"/>
          </a:xfrm>
          <a:prstGeom prst="rect">
            <a:avLst/>
          </a:prstGeom>
          <a:ln w="0">
            <a:noFill/>
          </a:ln>
        </p:spPr>
      </p:pic>
      <p:sp>
        <p:nvSpPr>
          <p:cNvPr id="99" name="TextBox 15"/>
          <p:cNvSpPr/>
          <p:nvPr/>
        </p:nvSpPr>
        <p:spPr>
          <a:xfrm>
            <a:off x="548640" y="38037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Street-level photo of a sidewalk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0" name="Rounded Rectangle 16"/>
          <p:cNvSpPr/>
          <p:nvPr/>
        </p:nvSpPr>
        <p:spPr>
          <a:xfrm>
            <a:off x="2834640" y="1810440"/>
            <a:ext cx="1947240" cy="1919880"/>
          </a:xfrm>
          <a:prstGeom prst="roundRect">
            <a:avLst>
              <a:gd name="adj" fmla="val 4761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Rounded Rectangle 17"/>
          <p:cNvSpPr/>
          <p:nvPr/>
        </p:nvSpPr>
        <p:spPr>
          <a:xfrm>
            <a:off x="2953440" y="1956960"/>
            <a:ext cx="1709640" cy="347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Box 18"/>
          <p:cNvSpPr/>
          <p:nvPr/>
        </p:nvSpPr>
        <p:spPr>
          <a:xfrm>
            <a:off x="2953440" y="1956960"/>
            <a:ext cx="1709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Missing curb ramp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3" name="Rounded Rectangle 19"/>
          <p:cNvSpPr/>
          <p:nvPr/>
        </p:nvSpPr>
        <p:spPr>
          <a:xfrm>
            <a:off x="2953440" y="2395800"/>
            <a:ext cx="1709640" cy="347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Box 20"/>
          <p:cNvSpPr/>
          <p:nvPr/>
        </p:nvSpPr>
        <p:spPr>
          <a:xfrm>
            <a:off x="2953440" y="2395800"/>
            <a:ext cx="1709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Obstacle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5" name="Rounded Rectangle 21"/>
          <p:cNvSpPr/>
          <p:nvPr/>
        </p:nvSpPr>
        <p:spPr>
          <a:xfrm>
            <a:off x="2953440" y="2834640"/>
            <a:ext cx="1709640" cy="347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22"/>
          <p:cNvSpPr/>
          <p:nvPr/>
        </p:nvSpPr>
        <p:spPr>
          <a:xfrm>
            <a:off x="2953440" y="2834640"/>
            <a:ext cx="1709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Surface problem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7" name="Rounded Rectangle 23"/>
          <p:cNvSpPr/>
          <p:nvPr/>
        </p:nvSpPr>
        <p:spPr>
          <a:xfrm>
            <a:off x="2953440" y="3273480"/>
            <a:ext cx="1709640" cy="347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Box 24"/>
          <p:cNvSpPr/>
          <p:nvPr/>
        </p:nvSpPr>
        <p:spPr>
          <a:xfrm>
            <a:off x="2953440" y="3273480"/>
            <a:ext cx="1709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No barrier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2834640" y="38037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Image classifier picks one of four classes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Rounded Rectangle 26"/>
          <p:cNvSpPr/>
          <p:nvPr/>
        </p:nvSpPr>
        <p:spPr>
          <a:xfrm>
            <a:off x="5120640" y="1810440"/>
            <a:ext cx="1947240" cy="1919880"/>
          </a:xfrm>
          <a:prstGeom prst="roundRect">
            <a:avLst>
              <a:gd name="adj" fmla="val 4761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Oval 27"/>
          <p:cNvSpPr/>
          <p:nvPr/>
        </p:nvSpPr>
        <p:spPr>
          <a:xfrm>
            <a:off x="5884200" y="1993320"/>
            <a:ext cx="420120" cy="42012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Oval 28"/>
          <p:cNvSpPr/>
          <p:nvPr/>
        </p:nvSpPr>
        <p:spPr>
          <a:xfrm>
            <a:off x="6021360" y="2130480"/>
            <a:ext cx="145800" cy="1458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Box 29"/>
          <p:cNvSpPr/>
          <p:nvPr/>
        </p:nvSpPr>
        <p:spPr>
          <a:xfrm>
            <a:off x="5193720" y="2541960"/>
            <a:ext cx="18010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40.4463° N, 79.9438° W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150" spc="-1" strike="noStrike">
                <a:solidFill>
                  <a:srgbClr val="374151"/>
                </a:solidFill>
                <a:latin typeface="Calibri"/>
              </a:rPr>
              <a:t>Squirrel Hill North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136 m</a:t>
            </a:r>
            <a:r>
              <a:rPr b="0" lang="en-US" sz="1150" spc="-1" strike="noStrike">
                <a:solidFill>
                  <a:srgbClr val="374151"/>
                </a:solidFill>
                <a:latin typeface="Calibri"/>
              </a:rPr>
              <a:t> to a preschool</a:t>
            </a:r>
            <a:endParaRPr b="0" lang="en-US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143 m</a:t>
            </a:r>
            <a:r>
              <a:rPr b="0" lang="en-US" sz="1150" spc="-1" strike="noStrike">
                <a:solidFill>
                  <a:srgbClr val="374151"/>
                </a:solidFill>
                <a:latin typeface="Calibri"/>
              </a:rPr>
              <a:t> to a bus stop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14" name="TextBox 30"/>
          <p:cNvSpPr/>
          <p:nvPr/>
        </p:nvSpPr>
        <p:spPr>
          <a:xfrm>
            <a:off x="5120640" y="38037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Every photo carries its coordinates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115" name="Picture 31" descr="map_tiers_zoom.png"/>
          <p:cNvPicPr/>
          <p:nvPr/>
        </p:nvPicPr>
        <p:blipFill>
          <a:blip r:embed="rId2"/>
          <a:stretch/>
        </p:blipFill>
        <p:spPr>
          <a:xfrm>
            <a:off x="7420320" y="1810440"/>
            <a:ext cx="1919880" cy="1919880"/>
          </a:xfrm>
          <a:prstGeom prst="rect">
            <a:avLst/>
          </a:prstGeom>
          <a:ln w="9525">
            <a:solidFill>
              <a:srgbClr val="d1d5db"/>
            </a:solidFill>
            <a:round/>
          </a:ln>
        </p:spPr>
      </p:pic>
      <p:sp>
        <p:nvSpPr>
          <p:cNvPr id="116" name="Rounded Rectangle 32"/>
          <p:cNvSpPr/>
          <p:nvPr/>
        </p:nvSpPr>
        <p:spPr>
          <a:xfrm>
            <a:off x="7516440" y="1920240"/>
            <a:ext cx="731160" cy="2739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Box 33"/>
          <p:cNvSpPr/>
          <p:nvPr/>
        </p:nvSpPr>
        <p:spPr>
          <a:xfrm>
            <a:off x="7516440" y="19202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Tier 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8" name="Rectangle 34"/>
          <p:cNvSpPr/>
          <p:nvPr/>
        </p:nvSpPr>
        <p:spPr>
          <a:xfrm>
            <a:off x="7406640" y="3867840"/>
            <a:ext cx="118440" cy="11844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Box 35"/>
          <p:cNvSpPr/>
          <p:nvPr/>
        </p:nvSpPr>
        <p:spPr>
          <a:xfrm>
            <a:off x="7571160" y="379476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Tier 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Rectangle 36"/>
          <p:cNvSpPr/>
          <p:nvPr/>
        </p:nvSpPr>
        <p:spPr>
          <a:xfrm>
            <a:off x="8055720" y="3867840"/>
            <a:ext cx="118440" cy="118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Box 37"/>
          <p:cNvSpPr/>
          <p:nvPr/>
        </p:nvSpPr>
        <p:spPr>
          <a:xfrm>
            <a:off x="8220600" y="379476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Tier 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2" name="Rectangle 38"/>
          <p:cNvSpPr/>
          <p:nvPr/>
        </p:nvSpPr>
        <p:spPr>
          <a:xfrm>
            <a:off x="8705160" y="3867840"/>
            <a:ext cx="118440" cy="118440"/>
          </a:xfrm>
          <a:prstGeom prst="rect">
            <a:avLst/>
          </a:prstGeom>
          <a:solidFill>
            <a:srgbClr val="7c8a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Box 39"/>
          <p:cNvSpPr/>
          <p:nvPr/>
        </p:nvSpPr>
        <p:spPr>
          <a:xfrm>
            <a:off x="8869680" y="379476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Tier 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4" name="TextBox 40"/>
          <p:cNvSpPr/>
          <p:nvPr/>
        </p:nvSpPr>
        <p:spPr>
          <a:xfrm>
            <a:off x="7406640" y="4041720"/>
            <a:ext cx="194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■ 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school, clinic, care   ○ busy stop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5" name="Rounded Rectangle 41"/>
          <p:cNvSpPr/>
          <p:nvPr/>
        </p:nvSpPr>
        <p:spPr>
          <a:xfrm>
            <a:off x="9692640" y="1810440"/>
            <a:ext cx="1947240" cy="191988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Box 42"/>
          <p:cNvSpPr/>
          <p:nvPr/>
        </p:nvSpPr>
        <p:spPr>
          <a:xfrm>
            <a:off x="9820800" y="1901880"/>
            <a:ext cx="1691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00" spc="77" strike="noStrike">
                <a:solidFill>
                  <a:srgbClr val="6b7280"/>
                </a:solidFill>
                <a:latin typeface="Calibri"/>
              </a:rPr>
              <a:t>CITY WORKLIST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7" name="Oval 43"/>
          <p:cNvSpPr/>
          <p:nvPr/>
        </p:nvSpPr>
        <p:spPr>
          <a:xfrm>
            <a:off x="9820800" y="2258640"/>
            <a:ext cx="127800" cy="12780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Box 44"/>
          <p:cNvSpPr/>
          <p:nvPr/>
        </p:nvSpPr>
        <p:spPr>
          <a:xfrm>
            <a:off x="10021680" y="219456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No ramp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  Squirrel Hill N.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9" name="Oval 45"/>
          <p:cNvSpPr/>
          <p:nvPr/>
        </p:nvSpPr>
        <p:spPr>
          <a:xfrm>
            <a:off x="9820800" y="2560320"/>
            <a:ext cx="127800" cy="12780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Box 46"/>
          <p:cNvSpPr/>
          <p:nvPr/>
        </p:nvSpPr>
        <p:spPr>
          <a:xfrm>
            <a:off x="10021680" y="249624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Obstacle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  Bluff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1" name="Oval 47"/>
          <p:cNvSpPr/>
          <p:nvPr/>
        </p:nvSpPr>
        <p:spPr>
          <a:xfrm>
            <a:off x="9820800" y="2862000"/>
            <a:ext cx="127800" cy="12780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Box 48"/>
          <p:cNvSpPr/>
          <p:nvPr/>
        </p:nvSpPr>
        <p:spPr>
          <a:xfrm>
            <a:off x="10021680" y="279792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Surface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  North Oakland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3" name="Oval 49"/>
          <p:cNvSpPr/>
          <p:nvPr/>
        </p:nvSpPr>
        <p:spPr>
          <a:xfrm>
            <a:off x="9820800" y="3163680"/>
            <a:ext cx="127800" cy="127800"/>
          </a:xfrm>
          <a:prstGeom prst="ellipse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Box 50"/>
          <p:cNvSpPr/>
          <p:nvPr/>
        </p:nvSpPr>
        <p:spPr>
          <a:xfrm>
            <a:off x="10021680" y="309996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No ramp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  Downtown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5" name="Oval 51"/>
          <p:cNvSpPr/>
          <p:nvPr/>
        </p:nvSpPr>
        <p:spPr>
          <a:xfrm>
            <a:off x="9820800" y="3465720"/>
            <a:ext cx="127800" cy="127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Box 52"/>
          <p:cNvSpPr/>
          <p:nvPr/>
        </p:nvSpPr>
        <p:spPr>
          <a:xfrm>
            <a:off x="10021680" y="340164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50" spc="-1" strike="noStrike">
                <a:solidFill>
                  <a:srgbClr val="111827"/>
                </a:solidFill>
                <a:latin typeface="Calibri"/>
              </a:rPr>
              <a:t>Surface</a:t>
            </a:r>
            <a:r>
              <a:rPr b="0" lang="en-US" sz="1000" spc="-1" strike="noStrike">
                <a:solidFill>
                  <a:srgbClr val="6b7280"/>
                </a:solidFill>
                <a:latin typeface="Calibri"/>
              </a:rPr>
              <a:t>  Greenfield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7" name="TextBox 53"/>
          <p:cNvSpPr/>
          <p:nvPr/>
        </p:nvSpPr>
        <p:spPr>
          <a:xfrm>
            <a:off x="9692640" y="3803760"/>
            <a:ext cx="194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Planners check Tier 1 first, then schedule repairs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8" name="Rounded Rectangle 54"/>
          <p:cNvSpPr/>
          <p:nvPr/>
        </p:nvSpPr>
        <p:spPr>
          <a:xfrm>
            <a:off x="548640" y="4526280"/>
            <a:ext cx="5257440" cy="1737000"/>
          </a:xfrm>
          <a:prstGeom prst="roundRect">
            <a:avLst>
              <a:gd name="adj" fmla="val 5263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Box 55"/>
          <p:cNvSpPr/>
          <p:nvPr/>
        </p:nvSpPr>
        <p:spPr>
          <a:xfrm>
            <a:off x="804600" y="47091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TODAY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0" name="TextBox 56"/>
          <p:cNvSpPr/>
          <p:nvPr/>
        </p:nvSpPr>
        <p:spPr>
          <a:xfrm>
            <a:off x="804600" y="5038200"/>
            <a:ext cx="47545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People walk streets or click through Street View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About 6 miles per staff-week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17% of Pittsburgh checked in 6 years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41" name="Connector 57"/>
          <p:cNvSpPr/>
          <p:nvPr/>
        </p:nvSpPr>
        <p:spPr>
          <a:xfrm>
            <a:off x="5897880" y="5394960"/>
            <a:ext cx="393120" cy="36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Rounded Rectangle 58"/>
          <p:cNvSpPr/>
          <p:nvPr/>
        </p:nvSpPr>
        <p:spPr>
          <a:xfrm>
            <a:off x="6382440" y="4526280"/>
            <a:ext cx="5257440" cy="1737000"/>
          </a:xfrm>
          <a:prstGeom prst="roundRect">
            <a:avLst>
              <a:gd name="adj" fmla="val 5263"/>
            </a:avLst>
          </a:prstGeom>
          <a:solidFill>
            <a:srgbClr val="e6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Box 59"/>
          <p:cNvSpPr/>
          <p:nvPr/>
        </p:nvSpPr>
        <p:spPr>
          <a:xfrm>
            <a:off x="6638400" y="4709160"/>
            <a:ext cx="4754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0f766e"/>
                </a:solidFill>
                <a:latin typeface="Calibri"/>
              </a:rPr>
              <a:t>WITH SIDEWALK SCANNER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TextBox 60"/>
          <p:cNvSpPr/>
          <p:nvPr/>
        </p:nvSpPr>
        <p:spPr>
          <a:xfrm>
            <a:off x="6638400" y="5038200"/>
            <a:ext cx="4845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A model sweeps every street photo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Re-run whenever new imagery arrives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•  </a:t>
            </a:r>
            <a:r>
              <a:rPr b="0" lang="en-US" sz="1600" spc="-1" strike="noStrike">
                <a:solidFill>
                  <a:srgbClr val="111827"/>
                </a:solidFill>
                <a:latin typeface="Calibri"/>
              </a:rPr>
              <a:t>Planners check Tier 1 first: 28% of street km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4864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77" strike="noStrike">
                <a:solidFill>
                  <a:srgbClr val="0f766e"/>
                </a:solidFill>
                <a:latin typeface="Calibri"/>
              </a:rPr>
              <a:t>03   </a:t>
            </a:r>
            <a:r>
              <a:rPr b="1" lang="en-US" sz="1200" spc="77" strike="noStrike">
                <a:solidFill>
                  <a:srgbClr val="6b7280"/>
                </a:solidFill>
                <a:latin typeface="Calibri"/>
              </a:rPr>
              <a:t>DATA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754880" y="329040"/>
            <a:ext cx="688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Sidewalk Scanner  ·  Team YOLO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48640" y="60336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</a:rPr>
              <a:t>We learn from 18 cities and test on Pittsburgh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11045880" y="654696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</a:rPr>
              <a:t>3 / 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548640" y="1847160"/>
            <a:ext cx="626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18 OTHER CITIES  ·  TRAINING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548640" y="3895200"/>
            <a:ext cx="626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0f766e"/>
                </a:solidFill>
                <a:latin typeface="Calibri"/>
              </a:rPr>
              <a:t>PITTSBURGH  ·  HELD-OUT TEST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Box 7"/>
          <p:cNvSpPr/>
          <p:nvPr/>
        </p:nvSpPr>
        <p:spPr>
          <a:xfrm>
            <a:off x="548640" y="146304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11827"/>
                </a:solidFill>
                <a:latin typeface="Calibri"/>
              </a:rPr>
              <a:t>Missing curb ramp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52" name="Picture 8" descr="teaneck_11267.jpg"/>
          <p:cNvPicPr/>
          <p:nvPr/>
        </p:nvPicPr>
        <p:blipFill>
          <a:blip r:embed="rId1"/>
          <a:stretch/>
        </p:blipFill>
        <p:spPr>
          <a:xfrm>
            <a:off x="548640" y="21762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53" name="Rectangle 9"/>
          <p:cNvSpPr/>
          <p:nvPr/>
        </p:nvSpPr>
        <p:spPr>
          <a:xfrm>
            <a:off x="548640" y="33832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Box 10"/>
          <p:cNvSpPr/>
          <p:nvPr/>
        </p:nvSpPr>
        <p:spPr>
          <a:xfrm>
            <a:off x="621720" y="33832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Teaneck  ·  5,107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155" name="Picture 11" descr="ncr_9511.jpg"/>
          <p:cNvPicPr/>
          <p:nvPr/>
        </p:nvPicPr>
        <p:blipFill>
          <a:blip r:embed="rId2"/>
          <a:stretch/>
        </p:blipFill>
        <p:spPr>
          <a:xfrm>
            <a:off x="548640" y="42246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56" name="Rectangle 12"/>
          <p:cNvSpPr/>
          <p:nvPr/>
        </p:nvSpPr>
        <p:spPr>
          <a:xfrm>
            <a:off x="548640" y="54316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Box 13"/>
          <p:cNvSpPr/>
          <p:nvPr/>
        </p:nvSpPr>
        <p:spPr>
          <a:xfrm>
            <a:off x="621720" y="54316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Pittsburgh  ·  200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58" name="TextBox 14"/>
          <p:cNvSpPr/>
          <p:nvPr/>
        </p:nvSpPr>
        <p:spPr>
          <a:xfrm>
            <a:off x="2148840" y="146304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11827"/>
                </a:solidFill>
                <a:latin typeface="Calibri"/>
              </a:rPr>
              <a:t>Obstacle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59" name="Picture 15" descr="sea_169860.jpg"/>
          <p:cNvPicPr/>
          <p:nvPr/>
        </p:nvPicPr>
        <p:blipFill>
          <a:blip r:embed="rId3"/>
          <a:stretch/>
        </p:blipFill>
        <p:spPr>
          <a:xfrm>
            <a:off x="2148840" y="21762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60" name="Rectangle 16"/>
          <p:cNvSpPr/>
          <p:nvPr/>
        </p:nvSpPr>
        <p:spPr>
          <a:xfrm>
            <a:off x="2148840" y="33832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Box 17"/>
          <p:cNvSpPr/>
          <p:nvPr/>
        </p:nvSpPr>
        <p:spPr>
          <a:xfrm>
            <a:off x="2221920" y="33832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Seattle  ·  2,931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162" name="Picture 18" descr="obs_16325.jpg"/>
          <p:cNvPicPr/>
          <p:nvPr/>
        </p:nvPicPr>
        <p:blipFill>
          <a:blip r:embed="rId4"/>
          <a:stretch/>
        </p:blipFill>
        <p:spPr>
          <a:xfrm>
            <a:off x="2148840" y="42246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63" name="Rectangle 19"/>
          <p:cNvSpPr/>
          <p:nvPr/>
        </p:nvSpPr>
        <p:spPr>
          <a:xfrm>
            <a:off x="2148840" y="54316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Box 20"/>
          <p:cNvSpPr/>
          <p:nvPr/>
        </p:nvSpPr>
        <p:spPr>
          <a:xfrm>
            <a:off x="2221920" y="54316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Pittsburgh  ·  15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65" name="TextBox 21"/>
          <p:cNvSpPr/>
          <p:nvPr/>
        </p:nvSpPr>
        <p:spPr>
          <a:xfrm>
            <a:off x="3749040" y="146304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11827"/>
                </a:solidFill>
                <a:latin typeface="Calibri"/>
              </a:rPr>
              <a:t>Surface problem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66" name="Picture 22" descr="chicago_121128.jpg"/>
          <p:cNvPicPr/>
          <p:nvPr/>
        </p:nvPicPr>
        <p:blipFill>
          <a:blip r:embed="rId5"/>
          <a:stretch/>
        </p:blipFill>
        <p:spPr>
          <a:xfrm>
            <a:off x="3749040" y="21762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67" name="Rectangle 23"/>
          <p:cNvSpPr/>
          <p:nvPr/>
        </p:nvSpPr>
        <p:spPr>
          <a:xfrm>
            <a:off x="3749040" y="33832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Box 24"/>
          <p:cNvSpPr/>
          <p:nvPr/>
        </p:nvSpPr>
        <p:spPr>
          <a:xfrm>
            <a:off x="3822120" y="33832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Chicago  ·  3,962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169" name="Picture 25" descr="sfc_5178.jpg"/>
          <p:cNvPicPr/>
          <p:nvPr/>
        </p:nvPicPr>
        <p:blipFill>
          <a:blip r:embed="rId6"/>
          <a:stretch/>
        </p:blipFill>
        <p:spPr>
          <a:xfrm>
            <a:off x="3749040" y="42246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70" name="Rectangle 26"/>
          <p:cNvSpPr/>
          <p:nvPr/>
        </p:nvSpPr>
        <p:spPr>
          <a:xfrm>
            <a:off x="3749040" y="54316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Box 27"/>
          <p:cNvSpPr/>
          <p:nvPr/>
        </p:nvSpPr>
        <p:spPr>
          <a:xfrm>
            <a:off x="3822120" y="54316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Pittsburgh  ·  162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2" name="TextBox 28"/>
          <p:cNvSpPr/>
          <p:nvPr/>
        </p:nvSpPr>
        <p:spPr>
          <a:xfrm>
            <a:off x="5349240" y="146304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11827"/>
                </a:solidFill>
                <a:latin typeface="Calibri"/>
              </a:rPr>
              <a:t>No barrier*</a:t>
            </a:r>
            <a:endParaRPr b="0" lang="en-US" sz="1400" spc="-1" strike="noStrike">
              <a:latin typeface="Arial"/>
            </a:endParaRPr>
          </a:p>
        </p:txBody>
      </p:sp>
      <p:pic>
        <p:nvPicPr>
          <p:cNvPr id="173" name="Picture 29" descr="taipei_44530.jpg"/>
          <p:cNvPicPr/>
          <p:nvPr/>
        </p:nvPicPr>
        <p:blipFill>
          <a:blip r:embed="rId7"/>
          <a:stretch/>
        </p:blipFill>
        <p:spPr>
          <a:xfrm>
            <a:off x="5349240" y="21762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74" name="Rectangle 30"/>
          <p:cNvSpPr/>
          <p:nvPr/>
        </p:nvSpPr>
        <p:spPr>
          <a:xfrm>
            <a:off x="5349240" y="33832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Box 31"/>
          <p:cNvSpPr/>
          <p:nvPr/>
        </p:nvSpPr>
        <p:spPr>
          <a:xfrm>
            <a:off x="5422320" y="33832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Taipei  ·  8,512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176" name="Picture 32" descr="rej_sfc_15791.jpg"/>
          <p:cNvPicPr/>
          <p:nvPr/>
        </p:nvPicPr>
        <p:blipFill>
          <a:blip r:embed="rId8"/>
          <a:stretch/>
        </p:blipFill>
        <p:spPr>
          <a:xfrm>
            <a:off x="5349240" y="4224600"/>
            <a:ext cx="1462680" cy="1462680"/>
          </a:xfrm>
          <a:prstGeom prst="rect">
            <a:avLst/>
          </a:prstGeom>
          <a:ln w="0">
            <a:noFill/>
          </a:ln>
        </p:spPr>
      </p:pic>
      <p:sp>
        <p:nvSpPr>
          <p:cNvPr id="177" name="Rectangle 33"/>
          <p:cNvSpPr/>
          <p:nvPr/>
        </p:nvSpPr>
        <p:spPr>
          <a:xfrm>
            <a:off x="5349240" y="5431680"/>
            <a:ext cx="1462680" cy="25560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Box 34"/>
          <p:cNvSpPr/>
          <p:nvPr/>
        </p:nvSpPr>
        <p:spPr>
          <a:xfrm>
            <a:off x="5422320" y="5431680"/>
            <a:ext cx="1352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Pittsburgh  ·  182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179" name="TextBox 35"/>
          <p:cNvSpPr/>
          <p:nvPr/>
        </p:nvSpPr>
        <p:spPr>
          <a:xfrm>
            <a:off x="548640" y="5870520"/>
            <a:ext cx="6309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111827"/>
                </a:solidFill>
                <a:latin typeface="Calibri"/>
              </a:rPr>
              <a:t>Label = crowd verdict. </a:t>
            </a:r>
            <a:r>
              <a:rPr b="0" lang="en-US" sz="1300" spc="-1" strike="noStrike">
                <a:solidFill>
                  <a:srgbClr val="374151"/>
                </a:solidFill>
                <a:latin typeface="Calibri"/>
              </a:rPr>
              <a:t>Confirmed → that barrier.  *Rejected → “no barrier”.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0" name="TextBox 36"/>
          <p:cNvSpPr/>
          <p:nvPr/>
        </p:nvSpPr>
        <p:spPr>
          <a:xfrm>
            <a:off x="7178040" y="150876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SPLIT BY CITY, NOT AT RANDOM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1" name="Rounded Rectangle 37"/>
          <p:cNvSpPr/>
          <p:nvPr/>
        </p:nvSpPr>
        <p:spPr>
          <a:xfrm>
            <a:off x="7178040" y="1847160"/>
            <a:ext cx="4077720" cy="45684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Box 38"/>
          <p:cNvSpPr/>
          <p:nvPr/>
        </p:nvSpPr>
        <p:spPr>
          <a:xfrm>
            <a:off x="7324200" y="1847160"/>
            <a:ext cx="3803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Train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18 cities  ·  20,512 photos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Rounded Rectangle 39"/>
          <p:cNvSpPr/>
          <p:nvPr/>
        </p:nvSpPr>
        <p:spPr>
          <a:xfrm>
            <a:off x="11347560" y="1847160"/>
            <a:ext cx="292320" cy="456840"/>
          </a:xfrm>
          <a:prstGeom prst="roundRect">
            <a:avLst>
              <a:gd name="adj" fmla="val 1875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Box 40"/>
          <p:cNvSpPr/>
          <p:nvPr/>
        </p:nvSpPr>
        <p:spPr>
          <a:xfrm>
            <a:off x="7178040" y="2350080"/>
            <a:ext cx="4461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0f766e"/>
                </a:solidFill>
                <a:latin typeface="Calibri"/>
              </a:rPr>
              <a:t>Test  </a:t>
            </a:r>
            <a:r>
              <a:rPr b="0" lang="en-US" sz="1200" spc="-1" strike="noStrike">
                <a:solidFill>
                  <a:srgbClr val="0f766e"/>
                </a:solidFill>
                <a:latin typeface="Calibri"/>
              </a:rPr>
              <a:t>Pittsburgh  ·  559 photos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5" name="TextBox 41"/>
          <p:cNvSpPr/>
          <p:nvPr/>
        </p:nvSpPr>
        <p:spPr>
          <a:xfrm>
            <a:off x="7178040" y="2853000"/>
            <a:ext cx="4461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WHERE EACH PIECE COMES FROM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86" name="Rounded Rectangle 42"/>
          <p:cNvSpPr/>
          <p:nvPr/>
        </p:nvSpPr>
        <p:spPr>
          <a:xfrm>
            <a:off x="7178040" y="32187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Box 43"/>
          <p:cNvSpPr/>
          <p:nvPr/>
        </p:nvSpPr>
        <p:spPr>
          <a:xfrm>
            <a:off x="7178040" y="3218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8" name="TextBox 44"/>
          <p:cNvSpPr/>
          <p:nvPr/>
        </p:nvSpPr>
        <p:spPr>
          <a:xfrm>
            <a:off x="7680960" y="3200400"/>
            <a:ext cx="395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111827"/>
                </a:solidFill>
                <a:latin typeface="Calibri"/>
              </a:rPr>
              <a:t>Project Sidewalk photos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89" name="TextBox 45"/>
          <p:cNvSpPr/>
          <p:nvPr/>
        </p:nvSpPr>
        <p:spPr>
          <a:xfrm>
            <a:off x="7680960" y="3483720"/>
            <a:ext cx="395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</a:rPr>
              <a:t>21,071 crowd-labelled Street View crops, 19 cities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0" name="Rounded Rectangle 46"/>
          <p:cNvSpPr/>
          <p:nvPr/>
        </p:nvSpPr>
        <p:spPr>
          <a:xfrm>
            <a:off x="7178040" y="3986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Box 47"/>
          <p:cNvSpPr/>
          <p:nvPr/>
        </p:nvSpPr>
        <p:spPr>
          <a:xfrm>
            <a:off x="7178040" y="3986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2" name="TextBox 48"/>
          <p:cNvSpPr/>
          <p:nvPr/>
        </p:nvSpPr>
        <p:spPr>
          <a:xfrm>
            <a:off x="7680960" y="3968640"/>
            <a:ext cx="395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111827"/>
                </a:solidFill>
                <a:latin typeface="Calibri"/>
              </a:rPr>
              <a:t>Project Sidewalk Pittsburgh API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93" name="TextBox 49"/>
          <p:cNvSpPr/>
          <p:nvPr/>
        </p:nvSpPr>
        <p:spPr>
          <a:xfrm>
            <a:off x="7680960" y="4251960"/>
            <a:ext cx="395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</a:rPr>
              <a:t>25,690 labels with GPS: where each test photo is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4" name="Rounded Rectangle 50"/>
          <p:cNvSpPr/>
          <p:nvPr/>
        </p:nvSpPr>
        <p:spPr>
          <a:xfrm>
            <a:off x="7178040" y="47548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Box 51"/>
          <p:cNvSpPr/>
          <p:nvPr/>
        </p:nvSpPr>
        <p:spPr>
          <a:xfrm>
            <a:off x="7178040" y="47548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6" name="TextBox 52"/>
          <p:cNvSpPr/>
          <p:nvPr/>
        </p:nvSpPr>
        <p:spPr>
          <a:xfrm>
            <a:off x="7680960" y="4736520"/>
            <a:ext cx="395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111827"/>
                </a:solidFill>
                <a:latin typeface="Calibri"/>
              </a:rPr>
              <a:t>WPRDC + PRT open data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197" name="TextBox 53"/>
          <p:cNvSpPr/>
          <p:nvPr/>
        </p:nvSpPr>
        <p:spPr>
          <a:xfrm>
            <a:off x="7680960" y="5020200"/>
            <a:ext cx="395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</a:rPr>
              <a:t>Hospitals, schools, clinics, 2,696 bus stops: the tiers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8" name="Rounded Rectangle 54"/>
          <p:cNvSpPr/>
          <p:nvPr/>
        </p:nvSpPr>
        <p:spPr>
          <a:xfrm>
            <a:off x="7178040" y="55231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Box 55"/>
          <p:cNvSpPr/>
          <p:nvPr/>
        </p:nvSpPr>
        <p:spPr>
          <a:xfrm>
            <a:off x="7178040" y="55231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0" name="TextBox 56"/>
          <p:cNvSpPr/>
          <p:nvPr/>
        </p:nvSpPr>
        <p:spPr>
          <a:xfrm>
            <a:off x="7680960" y="5504760"/>
            <a:ext cx="3958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50" spc="-1" strike="noStrike">
                <a:solidFill>
                  <a:srgbClr val="111827"/>
                </a:solidFill>
                <a:latin typeface="Calibri"/>
              </a:rPr>
              <a:t>RampNet dataset</a:t>
            </a:r>
            <a:endParaRPr b="0" lang="en-US" sz="1450" spc="-1" strike="noStrike">
              <a:latin typeface="Arial"/>
            </a:endParaRPr>
          </a:p>
        </p:txBody>
      </p:sp>
      <p:sp>
        <p:nvSpPr>
          <p:cNvPr id="201" name="TextBox 57"/>
          <p:cNvSpPr/>
          <p:nvPr/>
        </p:nvSpPr>
        <p:spPr>
          <a:xfrm>
            <a:off x="7680960" y="5788080"/>
            <a:ext cx="395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</a:rPr>
              <a:t>214,376 street panoramas (New York, Portland, Bend)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374151"/>
                </a:solidFill>
                <a:latin typeface="Calibri"/>
              </a:rPr>
              <a:t>Only detects whether a curb ramp is there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/>
          <p:nvPr/>
        </p:nvSpPr>
        <p:spPr>
          <a:xfrm>
            <a:off x="54864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77" strike="noStrike">
                <a:solidFill>
                  <a:srgbClr val="0f766e"/>
                </a:solidFill>
                <a:latin typeface="Calibri"/>
              </a:rPr>
              <a:t>04   </a:t>
            </a:r>
            <a:r>
              <a:rPr b="1" lang="en-US" sz="1200" spc="77" strike="noStrike">
                <a:solidFill>
                  <a:srgbClr val="6b7280"/>
                </a:solidFill>
                <a:latin typeface="Calibri"/>
              </a:rPr>
              <a:t>EVALUATION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4754880" y="329040"/>
            <a:ext cx="688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Sidewalk Scanner  ·  Team YOLO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548640" y="60336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</a:rPr>
              <a:t>Scored on Pittsburgh only: per barrier type, per tier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5" name="TextBox 4"/>
          <p:cNvSpPr/>
          <p:nvPr/>
        </p:nvSpPr>
        <p:spPr>
          <a:xfrm>
            <a:off x="11045880" y="654696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</a:rPr>
              <a:t>4 / 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06" name="TextBox 5"/>
          <p:cNvSpPr/>
          <p:nvPr/>
        </p:nvSpPr>
        <p:spPr>
          <a:xfrm>
            <a:off x="548640" y="1508760"/>
            <a:ext cx="7086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TWO NUMBERS, PER TIER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07" name="Rounded Rectangle 6"/>
          <p:cNvSpPr/>
          <p:nvPr/>
        </p:nvSpPr>
        <p:spPr>
          <a:xfrm>
            <a:off x="548640" y="1847160"/>
            <a:ext cx="3428640" cy="1481040"/>
          </a:xfrm>
          <a:prstGeom prst="roundRect">
            <a:avLst>
              <a:gd name="adj" fmla="val 6172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Box 7"/>
          <p:cNvSpPr/>
          <p:nvPr/>
        </p:nvSpPr>
        <p:spPr>
          <a:xfrm>
            <a:off x="777240" y="19749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f766e"/>
                </a:solidFill>
                <a:latin typeface="Calibri"/>
              </a:rPr>
              <a:t>Found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9" name="TextBox 8"/>
          <p:cNvSpPr/>
          <p:nvPr/>
        </p:nvSpPr>
        <p:spPr>
          <a:xfrm>
            <a:off x="2286000" y="21031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</a:rPr>
              <a:t>(recall)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0" name="TextBox 9"/>
          <p:cNvSpPr/>
          <p:nvPr/>
        </p:nvSpPr>
        <p:spPr>
          <a:xfrm>
            <a:off x="777240" y="25603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Of the real barriers in Tier 1, what share did we flag?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1" name="Rounded Rectangle 10"/>
          <p:cNvSpPr/>
          <p:nvPr/>
        </p:nvSpPr>
        <p:spPr>
          <a:xfrm>
            <a:off x="4206240" y="1847160"/>
            <a:ext cx="3428640" cy="1481040"/>
          </a:xfrm>
          <a:prstGeom prst="roundRect">
            <a:avLst>
              <a:gd name="adj" fmla="val 6172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Box 11"/>
          <p:cNvSpPr/>
          <p:nvPr/>
        </p:nvSpPr>
        <p:spPr>
          <a:xfrm>
            <a:off x="4434840" y="197496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f766e"/>
                </a:solidFill>
                <a:latin typeface="Calibri"/>
              </a:rPr>
              <a:t>Right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3" name="TextBox 12"/>
          <p:cNvSpPr/>
          <p:nvPr/>
        </p:nvSpPr>
        <p:spPr>
          <a:xfrm>
            <a:off x="5943600" y="21031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6b7280"/>
                </a:solidFill>
                <a:latin typeface="Calibri"/>
              </a:rPr>
              <a:t>(precision)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TextBox 13"/>
          <p:cNvSpPr/>
          <p:nvPr/>
        </p:nvSpPr>
        <p:spPr>
          <a:xfrm>
            <a:off x="4434840" y="2560320"/>
            <a:ext cx="2971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74151"/>
                </a:solidFill>
                <a:latin typeface="Calibri"/>
              </a:rPr>
              <a:t>Of our Tier 1 flags, what share are real barriers?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15" name="TextBox 14"/>
          <p:cNvSpPr/>
          <p:nvPr/>
        </p:nvSpPr>
        <p:spPr>
          <a:xfrm>
            <a:off x="548640" y="3639240"/>
            <a:ext cx="7086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HOW WE CHECK THE TRUTH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16" name="Rounded Rectangle 15"/>
          <p:cNvSpPr/>
          <p:nvPr/>
        </p:nvSpPr>
        <p:spPr>
          <a:xfrm>
            <a:off x="548640" y="3977640"/>
            <a:ext cx="2209320" cy="225828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Box 16"/>
          <p:cNvSpPr/>
          <p:nvPr/>
        </p:nvSpPr>
        <p:spPr>
          <a:xfrm>
            <a:off x="749880" y="4133160"/>
            <a:ext cx="184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559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18" name="TextBox 17"/>
          <p:cNvSpPr/>
          <p:nvPr/>
        </p:nvSpPr>
        <p:spPr>
          <a:xfrm>
            <a:off x="749880" y="4773240"/>
            <a:ext cx="1843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held-out Pittsburgh photos with crowd votes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19" name="Rounded Rectangle 18"/>
          <p:cNvSpPr/>
          <p:nvPr/>
        </p:nvSpPr>
        <p:spPr>
          <a:xfrm>
            <a:off x="2986920" y="3977640"/>
            <a:ext cx="2209320" cy="225828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Box 19"/>
          <p:cNvSpPr/>
          <p:nvPr/>
        </p:nvSpPr>
        <p:spPr>
          <a:xfrm>
            <a:off x="3188160" y="4133160"/>
            <a:ext cx="184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300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21" name="TextBox 20"/>
          <p:cNvSpPr/>
          <p:nvPr/>
        </p:nvSpPr>
        <p:spPr>
          <a:xfrm>
            <a:off x="3188160" y="4773240"/>
            <a:ext cx="1843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Mapillary photos we hand-label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2" name="Rounded Rectangle 21"/>
          <p:cNvSpPr/>
          <p:nvPr/>
        </p:nvSpPr>
        <p:spPr>
          <a:xfrm>
            <a:off x="5425560" y="3977640"/>
            <a:ext cx="2209320" cy="225828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Box 22"/>
          <p:cNvSpPr/>
          <p:nvPr/>
        </p:nvSpPr>
        <p:spPr>
          <a:xfrm>
            <a:off x="5626440" y="4133160"/>
            <a:ext cx="1843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In person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224" name="TextBox 23"/>
          <p:cNvSpPr/>
          <p:nvPr/>
        </p:nvSpPr>
        <p:spPr>
          <a:xfrm>
            <a:off x="5626440" y="4773240"/>
            <a:ext cx="1843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We go to sampled spots and check them ourselves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25" name="TextBox 24"/>
          <p:cNvSpPr/>
          <p:nvPr/>
        </p:nvSpPr>
        <p:spPr>
          <a:xfrm>
            <a:off x="8001000" y="1508760"/>
            <a:ext cx="3638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77" strike="noStrike">
                <a:solidFill>
                  <a:srgbClr val="6b7280"/>
                </a:solidFill>
                <a:latin typeface="Calibri"/>
              </a:rPr>
              <a:t>TARGETS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26" name="Rounded Rectangle 25"/>
          <p:cNvSpPr/>
          <p:nvPr/>
        </p:nvSpPr>
        <p:spPr>
          <a:xfrm>
            <a:off x="8001000" y="1847160"/>
            <a:ext cx="3638880" cy="1389600"/>
          </a:xfrm>
          <a:prstGeom prst="roundRect">
            <a:avLst>
              <a:gd name="adj" fmla="val 6578"/>
            </a:avLst>
          </a:prstGeom>
          <a:solidFill>
            <a:srgbClr val="e6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Box 26"/>
          <p:cNvSpPr/>
          <p:nvPr/>
        </p:nvSpPr>
        <p:spPr>
          <a:xfrm>
            <a:off x="8229600" y="1993320"/>
            <a:ext cx="318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0f766e"/>
                </a:solidFill>
                <a:latin typeface="Calibri"/>
              </a:rPr>
              <a:t>≥ </a:t>
            </a:r>
            <a:r>
              <a:rPr b="1" lang="en-US" sz="2600" spc="-1" strike="noStrike">
                <a:solidFill>
                  <a:srgbClr val="0f766e"/>
                </a:solidFill>
                <a:latin typeface="Calibri"/>
              </a:rPr>
              <a:t>80%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28" name="TextBox 27"/>
          <p:cNvSpPr/>
          <p:nvPr/>
        </p:nvSpPr>
        <p:spPr>
          <a:xfrm>
            <a:off x="8229600" y="254196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of Tier 1 flags are real barriers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29" name="Rounded Rectangle 28"/>
          <p:cNvSpPr/>
          <p:nvPr/>
        </p:nvSpPr>
        <p:spPr>
          <a:xfrm>
            <a:off x="8001000" y="3346560"/>
            <a:ext cx="3638880" cy="13896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Box 29"/>
          <p:cNvSpPr/>
          <p:nvPr/>
        </p:nvSpPr>
        <p:spPr>
          <a:xfrm>
            <a:off x="8229600" y="3493080"/>
            <a:ext cx="318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11827"/>
                </a:solidFill>
                <a:latin typeface="Calibri"/>
              </a:rPr>
              <a:t>&gt; 40%  ·  &gt; 27%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1" name="TextBox 30"/>
          <p:cNvSpPr/>
          <p:nvPr/>
        </p:nvSpPr>
        <p:spPr>
          <a:xfrm>
            <a:off x="8229600" y="404172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of obstacles · surface problems found, beating human labellers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232" name="Rounded Rectangle 31"/>
          <p:cNvSpPr/>
          <p:nvPr/>
        </p:nvSpPr>
        <p:spPr>
          <a:xfrm>
            <a:off x="8001000" y="4846320"/>
            <a:ext cx="3638880" cy="1389600"/>
          </a:xfrm>
          <a:prstGeom prst="roundRect">
            <a:avLst>
              <a:gd name="adj" fmla="val 6578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Box 32"/>
          <p:cNvSpPr/>
          <p:nvPr/>
        </p:nvSpPr>
        <p:spPr>
          <a:xfrm>
            <a:off x="8229600" y="4992480"/>
            <a:ext cx="3181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111827"/>
                </a:solidFill>
                <a:latin typeface="Calibri"/>
              </a:rPr>
              <a:t>2 baselines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234" name="TextBox 33"/>
          <p:cNvSpPr/>
          <p:nvPr/>
        </p:nvSpPr>
        <p:spPr>
          <a:xfrm>
            <a:off x="8229600" y="5541120"/>
            <a:ext cx="3181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beat zero-shot CLIP and a zero-shot vision-language model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548640" y="329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00" spc="77" strike="noStrike">
                <a:solidFill>
                  <a:srgbClr val="0f766e"/>
                </a:solidFill>
                <a:latin typeface="Calibri"/>
              </a:rPr>
              <a:t>05   </a:t>
            </a:r>
            <a:r>
              <a:rPr b="1" lang="en-US" sz="1200" spc="77" strike="noStrike">
                <a:solidFill>
                  <a:srgbClr val="6b7280"/>
                </a:solidFill>
                <a:latin typeface="Calibri"/>
              </a:rPr>
              <a:t>RISK  ·  HELP WANTED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4754880" y="329040"/>
            <a:ext cx="688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</a:rPr>
              <a:t>Sidewalk Scanner  ·  Team YOLO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548640" y="60336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111827"/>
                </a:solidFill>
                <a:latin typeface="Calibri"/>
              </a:rPr>
              <a:t>Biggest risk: a model trained elsewhere may fail in Pittsburgh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11045880" y="6546960"/>
            <a:ext cx="59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6b7280"/>
                </a:solidFill>
                <a:latin typeface="Calibri"/>
              </a:rPr>
              <a:t>5 / 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548640" y="1481400"/>
            <a:ext cx="7634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766e"/>
                </a:solidFill>
                <a:latin typeface="Calibri"/>
              </a:rPr>
              <a:t>1  </a:t>
            </a: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Different city, different streets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240" name="Picture 6" descr="rampnet_nyc.jpg"/>
          <p:cNvPicPr/>
          <p:nvPr/>
        </p:nvPicPr>
        <p:blipFill>
          <a:blip r:embed="rId1"/>
          <a:stretch/>
        </p:blipFill>
        <p:spPr>
          <a:xfrm>
            <a:off x="548640" y="1847160"/>
            <a:ext cx="1737000" cy="1737000"/>
          </a:xfrm>
          <a:prstGeom prst="rect">
            <a:avLst/>
          </a:prstGeom>
          <a:ln w="0">
            <a:noFill/>
          </a:ln>
        </p:spPr>
      </p:pic>
      <p:sp>
        <p:nvSpPr>
          <p:cNvPr id="241" name="Rectangle 7"/>
          <p:cNvSpPr/>
          <p:nvPr/>
        </p:nvSpPr>
        <p:spPr>
          <a:xfrm>
            <a:off x="548640" y="3310200"/>
            <a:ext cx="1737000" cy="27396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Box 8"/>
          <p:cNvSpPr/>
          <p:nvPr/>
        </p:nvSpPr>
        <p:spPr>
          <a:xfrm>
            <a:off x="621720" y="331020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Trained on: New York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243" name="Picture 9" descr="pgh_stairs_14480.jpg"/>
          <p:cNvPicPr/>
          <p:nvPr/>
        </p:nvPicPr>
        <p:blipFill>
          <a:blip r:embed="rId2"/>
          <a:stretch/>
        </p:blipFill>
        <p:spPr>
          <a:xfrm>
            <a:off x="2816280" y="1847160"/>
            <a:ext cx="1737000" cy="1737000"/>
          </a:xfrm>
          <a:prstGeom prst="rect">
            <a:avLst/>
          </a:prstGeom>
          <a:ln w="0">
            <a:noFill/>
          </a:ln>
        </p:spPr>
      </p:pic>
      <p:sp>
        <p:nvSpPr>
          <p:cNvPr id="244" name="Rectangle 10"/>
          <p:cNvSpPr/>
          <p:nvPr/>
        </p:nvSpPr>
        <p:spPr>
          <a:xfrm>
            <a:off x="2816280" y="3310200"/>
            <a:ext cx="1737000" cy="27396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Box 11"/>
          <p:cNvSpPr/>
          <p:nvPr/>
        </p:nvSpPr>
        <p:spPr>
          <a:xfrm>
            <a:off x="2889360" y="331020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Pittsburgh: stairs</a:t>
            </a:r>
            <a:endParaRPr b="0" lang="en-US" sz="1100" spc="-1" strike="noStrike">
              <a:latin typeface="Arial"/>
            </a:endParaRPr>
          </a:p>
        </p:txBody>
      </p:sp>
      <p:pic>
        <p:nvPicPr>
          <p:cNvPr id="246" name="Picture 12" descr="pgh_cobble_9626.jpg"/>
          <p:cNvPicPr/>
          <p:nvPr/>
        </p:nvPicPr>
        <p:blipFill>
          <a:blip r:embed="rId3"/>
          <a:stretch/>
        </p:blipFill>
        <p:spPr>
          <a:xfrm>
            <a:off x="4645080" y="1847160"/>
            <a:ext cx="1737000" cy="1737000"/>
          </a:xfrm>
          <a:prstGeom prst="rect">
            <a:avLst/>
          </a:prstGeom>
          <a:ln w="0">
            <a:noFill/>
          </a:ln>
        </p:spPr>
      </p:pic>
      <p:sp>
        <p:nvSpPr>
          <p:cNvPr id="247" name="Rectangle 13"/>
          <p:cNvSpPr/>
          <p:nvPr/>
        </p:nvSpPr>
        <p:spPr>
          <a:xfrm>
            <a:off x="4645080" y="3310200"/>
            <a:ext cx="1737000" cy="273960"/>
          </a:xfrm>
          <a:prstGeom prst="rect">
            <a:avLst/>
          </a:prstGeom>
          <a:solidFill>
            <a:srgbClr val="111827">
              <a:alpha val="7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Box 14"/>
          <p:cNvSpPr/>
          <p:nvPr/>
        </p:nvSpPr>
        <p:spPr>
          <a:xfrm>
            <a:off x="4718160" y="3310200"/>
            <a:ext cx="1627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Pittsburgh: cobblestone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249" name="Connector 15"/>
          <p:cNvSpPr/>
          <p:nvPr/>
        </p:nvSpPr>
        <p:spPr>
          <a:xfrm>
            <a:off x="2359080" y="2715480"/>
            <a:ext cx="365760" cy="360"/>
          </a:xfrm>
          <a:prstGeom prst="line">
            <a:avLst/>
          </a:prstGeom>
          <a:ln w="28575">
            <a:solidFill>
              <a:srgbClr val="6b72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Box 16"/>
          <p:cNvSpPr/>
          <p:nvPr/>
        </p:nvSpPr>
        <p:spPr>
          <a:xfrm>
            <a:off x="6583680" y="1828800"/>
            <a:ext cx="1599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f766e"/>
                </a:solidFill>
                <a:latin typeface="Calibri"/>
              </a:rPr>
              <a:t>1,128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1" name="TextBox 17"/>
          <p:cNvSpPr/>
          <p:nvPr/>
        </p:nvSpPr>
        <p:spPr>
          <a:xfrm>
            <a:off x="6583680" y="233172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public stairways in Pittsburgh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2" name="TextBox 18"/>
          <p:cNvSpPr/>
          <p:nvPr/>
        </p:nvSpPr>
        <p:spPr>
          <a:xfrm>
            <a:off x="6583680" y="2880360"/>
            <a:ext cx="1599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6b7280"/>
                </a:solidFill>
                <a:latin typeface="Calibri"/>
              </a:rPr>
              <a:t>plus hills, brick and narrow sidewalks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3" name="TextBox 19"/>
          <p:cNvSpPr/>
          <p:nvPr/>
        </p:nvSpPr>
        <p:spPr>
          <a:xfrm>
            <a:off x="548640" y="3694320"/>
            <a:ext cx="7634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0f766e"/>
                </a:solidFill>
                <a:latin typeface="Calibri"/>
              </a:rPr>
              <a:t>→  </a:t>
            </a:r>
            <a:r>
              <a:rPr b="0" lang="en-US" sz="1250" spc="-1" strike="noStrike">
                <a:solidFill>
                  <a:srgbClr val="0f766e"/>
                </a:solidFill>
                <a:latin typeface="Calibri"/>
              </a:rPr>
              <a:t>Test only on Pittsburgh, and check spots in person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54" name="Rounded Rectangle 20"/>
          <p:cNvSpPr/>
          <p:nvPr/>
        </p:nvSpPr>
        <p:spPr>
          <a:xfrm>
            <a:off x="548640" y="4114800"/>
            <a:ext cx="3702960" cy="214848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Box 21"/>
          <p:cNvSpPr/>
          <p:nvPr/>
        </p:nvSpPr>
        <p:spPr>
          <a:xfrm>
            <a:off x="731520" y="4242960"/>
            <a:ext cx="333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766e"/>
                </a:solidFill>
                <a:latin typeface="Calibri"/>
              </a:rPr>
              <a:t>2  </a:t>
            </a: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Photo coverage unknown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256" name="Picture 22" descr="map_coverage.png"/>
          <p:cNvPicPr/>
          <p:nvPr/>
        </p:nvPicPr>
        <p:blipFill>
          <a:blip r:embed="rId4"/>
          <a:stretch/>
        </p:blipFill>
        <p:spPr>
          <a:xfrm>
            <a:off x="731520" y="4626720"/>
            <a:ext cx="1416960" cy="1120320"/>
          </a:xfrm>
          <a:prstGeom prst="rect">
            <a:avLst/>
          </a:prstGeom>
          <a:ln w="0">
            <a:noFill/>
          </a:ln>
        </p:spPr>
      </p:pic>
      <p:sp>
        <p:nvSpPr>
          <p:cNvPr id="257" name="Rounded Rectangle 23"/>
          <p:cNvSpPr/>
          <p:nvPr/>
        </p:nvSpPr>
        <p:spPr>
          <a:xfrm>
            <a:off x="1239120" y="4986000"/>
            <a:ext cx="402120" cy="40212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Box 24"/>
          <p:cNvSpPr/>
          <p:nvPr/>
        </p:nvSpPr>
        <p:spPr>
          <a:xfrm>
            <a:off x="1239120" y="49860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9" name="TextBox 25"/>
          <p:cNvSpPr/>
          <p:nvPr/>
        </p:nvSpPr>
        <p:spPr>
          <a:xfrm>
            <a:off x="2331720" y="4617720"/>
            <a:ext cx="1737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111827"/>
                </a:solidFill>
                <a:latin typeface="Calibri"/>
              </a:rPr>
              <a:t>1,324 km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0" name="TextBox 26"/>
          <p:cNvSpPr/>
          <p:nvPr/>
        </p:nvSpPr>
        <p:spPr>
          <a:xfrm>
            <a:off x="2331720" y="502920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of unaudited streets. How many have usable photos?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1" name="TextBox 27"/>
          <p:cNvSpPr/>
          <p:nvPr/>
        </p:nvSpPr>
        <p:spPr>
          <a:xfrm>
            <a:off x="731520" y="587952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0f766e"/>
                </a:solidFill>
                <a:latin typeface="Calibri"/>
              </a:rPr>
              <a:t>→  </a:t>
            </a:r>
            <a:r>
              <a:rPr b="0" lang="en-US" sz="1250" spc="-1" strike="noStrike">
                <a:solidFill>
                  <a:srgbClr val="0f766e"/>
                </a:solidFill>
                <a:latin typeface="Calibri"/>
              </a:rPr>
              <a:t>Map photo coverage first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62" name="Rounded Rectangle 28"/>
          <p:cNvSpPr/>
          <p:nvPr/>
        </p:nvSpPr>
        <p:spPr>
          <a:xfrm>
            <a:off x="4480560" y="4114800"/>
            <a:ext cx="3702960" cy="2148480"/>
          </a:xfrm>
          <a:prstGeom prst="roundRect">
            <a:avLst>
              <a:gd name="adj" fmla="val 4255"/>
            </a:avLst>
          </a:prstGeom>
          <a:solidFill>
            <a:srgbClr val="f3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Box 29"/>
          <p:cNvSpPr/>
          <p:nvPr/>
        </p:nvSpPr>
        <p:spPr>
          <a:xfrm>
            <a:off x="4663440" y="4242960"/>
            <a:ext cx="333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0f766e"/>
                </a:solidFill>
                <a:latin typeface="Calibri"/>
              </a:rPr>
              <a:t>3  </a:t>
            </a: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Sparse labels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64" name="Rounded Rectangle 30"/>
          <p:cNvSpPr/>
          <p:nvPr/>
        </p:nvSpPr>
        <p:spPr>
          <a:xfrm>
            <a:off x="4663440" y="4626720"/>
            <a:ext cx="987120" cy="7311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rapezoid 31"/>
          <p:cNvSpPr/>
          <p:nvPr/>
        </p:nvSpPr>
        <p:spPr>
          <a:xfrm>
            <a:off x="4928760" y="5010840"/>
            <a:ext cx="456840" cy="237240"/>
          </a:xfrm>
          <a:prstGeom prst="trapezoid">
            <a:avLst>
              <a:gd name="adj" fmla="val 25000"/>
            </a:avLst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Rounded Rectangle 32"/>
          <p:cNvSpPr/>
          <p:nvPr/>
        </p:nvSpPr>
        <p:spPr>
          <a:xfrm>
            <a:off x="4736520" y="4690800"/>
            <a:ext cx="566640" cy="2192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Box 33"/>
          <p:cNvSpPr/>
          <p:nvPr/>
        </p:nvSpPr>
        <p:spPr>
          <a:xfrm>
            <a:off x="4736520" y="4690800"/>
            <a:ext cx="566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label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68" name="Rounded Rectangle 34"/>
          <p:cNvSpPr/>
          <p:nvPr/>
        </p:nvSpPr>
        <p:spPr>
          <a:xfrm>
            <a:off x="5779080" y="4626720"/>
            <a:ext cx="987120" cy="7311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rapezoid 35"/>
          <p:cNvSpPr/>
          <p:nvPr/>
        </p:nvSpPr>
        <p:spPr>
          <a:xfrm>
            <a:off x="6044040" y="5010840"/>
            <a:ext cx="456840" cy="237240"/>
          </a:xfrm>
          <a:prstGeom prst="trapezoid">
            <a:avLst>
              <a:gd name="adj" fmla="val 25000"/>
            </a:avLst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Box 36"/>
          <p:cNvSpPr/>
          <p:nvPr/>
        </p:nvSpPr>
        <p:spPr>
          <a:xfrm>
            <a:off x="5870520" y="469080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</a:rPr>
              <a:t>no label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1" name="Rounded Rectangle 37"/>
          <p:cNvSpPr/>
          <p:nvPr/>
        </p:nvSpPr>
        <p:spPr>
          <a:xfrm>
            <a:off x="6894720" y="4626720"/>
            <a:ext cx="987120" cy="7311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Trapezoid 38"/>
          <p:cNvSpPr/>
          <p:nvPr/>
        </p:nvSpPr>
        <p:spPr>
          <a:xfrm>
            <a:off x="7159680" y="5010840"/>
            <a:ext cx="456840" cy="237240"/>
          </a:xfrm>
          <a:prstGeom prst="trapezoid">
            <a:avLst>
              <a:gd name="adj" fmla="val 25000"/>
            </a:avLst>
          </a:prstGeom>
          <a:solidFill>
            <a:srgbClr val="4755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Box 39"/>
          <p:cNvSpPr/>
          <p:nvPr/>
        </p:nvSpPr>
        <p:spPr>
          <a:xfrm>
            <a:off x="6986160" y="469080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950" spc="-1" strike="noStrike">
                <a:solidFill>
                  <a:srgbClr val="6b7280"/>
                </a:solidFill>
                <a:latin typeface="Calibri"/>
              </a:rPr>
              <a:t>no label</a:t>
            </a:r>
            <a:endParaRPr b="0" lang="en-US" sz="950" spc="-1" strike="noStrike">
              <a:latin typeface="Arial"/>
            </a:endParaRPr>
          </a:p>
        </p:txBody>
      </p:sp>
      <p:sp>
        <p:nvSpPr>
          <p:cNvPr id="274" name="TextBox 40"/>
          <p:cNvSpPr/>
          <p:nvPr/>
        </p:nvSpPr>
        <p:spPr>
          <a:xfrm>
            <a:off x="4663440" y="5459040"/>
            <a:ext cx="3337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One ramp, three photos, one label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5" name="TextBox 41"/>
          <p:cNvSpPr/>
          <p:nvPr/>
        </p:nvSpPr>
        <p:spPr>
          <a:xfrm>
            <a:off x="4663440" y="587952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250" spc="-1" strike="noStrike">
                <a:solidFill>
                  <a:srgbClr val="0f766e"/>
                </a:solidFill>
                <a:latin typeface="Calibri"/>
              </a:rPr>
              <a:t>→  </a:t>
            </a:r>
            <a:r>
              <a:rPr b="0" lang="en-US" sz="1250" spc="-1" strike="noStrike">
                <a:solidFill>
                  <a:srgbClr val="0f766e"/>
                </a:solidFill>
                <a:latin typeface="Calibri"/>
              </a:rPr>
              <a:t>RampNet labels every nearby photo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76" name="Rounded Rectangle 42"/>
          <p:cNvSpPr/>
          <p:nvPr/>
        </p:nvSpPr>
        <p:spPr>
          <a:xfrm>
            <a:off x="8503920" y="1481400"/>
            <a:ext cx="3135960" cy="4781880"/>
          </a:xfrm>
          <a:prstGeom prst="roundRect">
            <a:avLst>
              <a:gd name="adj" fmla="val 3498"/>
            </a:avLst>
          </a:prstGeom>
          <a:solidFill>
            <a:srgbClr val="e6f2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Box 43"/>
          <p:cNvSpPr/>
          <p:nvPr/>
        </p:nvSpPr>
        <p:spPr>
          <a:xfrm>
            <a:off x="8732520" y="1664280"/>
            <a:ext cx="267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f766e"/>
                </a:solidFill>
                <a:latin typeface="Calibri"/>
              </a:rPr>
              <a:t>Where we'd love help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8" name="Rounded Rectangle 44"/>
          <p:cNvSpPr/>
          <p:nvPr/>
        </p:nvSpPr>
        <p:spPr>
          <a:xfrm>
            <a:off x="8732520" y="22950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Box 45"/>
          <p:cNvSpPr/>
          <p:nvPr/>
        </p:nvSpPr>
        <p:spPr>
          <a:xfrm>
            <a:off x="8732520" y="22950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0" name="TextBox 46"/>
          <p:cNvSpPr/>
          <p:nvPr/>
        </p:nvSpPr>
        <p:spPr>
          <a:xfrm>
            <a:off x="9162360" y="2267640"/>
            <a:ext cx="226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Imagery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1" name="TextBox 47"/>
          <p:cNvSpPr/>
          <p:nvPr/>
        </p:nvSpPr>
        <p:spPr>
          <a:xfrm>
            <a:off x="9162360" y="256932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Photos of unaudited streets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2" name="Rounded Rectangle 48"/>
          <p:cNvSpPr/>
          <p:nvPr/>
        </p:nvSpPr>
        <p:spPr>
          <a:xfrm>
            <a:off x="8732520" y="32734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Box 49"/>
          <p:cNvSpPr/>
          <p:nvPr/>
        </p:nvSpPr>
        <p:spPr>
          <a:xfrm>
            <a:off x="8732520" y="32734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4" name="TextBox 50"/>
          <p:cNvSpPr/>
          <p:nvPr/>
        </p:nvSpPr>
        <p:spPr>
          <a:xfrm>
            <a:off x="9162360" y="3246120"/>
            <a:ext cx="226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A DOMI planner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5" name="TextBox 51"/>
          <p:cNvSpPr/>
          <p:nvPr/>
        </p:nvSpPr>
        <p:spPr>
          <a:xfrm>
            <a:off x="9162360" y="354780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Is our tier rule right? What list would you use?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86" name="Rounded Rectangle 52"/>
          <p:cNvSpPr/>
          <p:nvPr/>
        </p:nvSpPr>
        <p:spPr>
          <a:xfrm>
            <a:off x="8732520" y="42519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Box 53"/>
          <p:cNvSpPr/>
          <p:nvPr/>
        </p:nvSpPr>
        <p:spPr>
          <a:xfrm>
            <a:off x="8732520" y="42519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88" name="TextBox 54"/>
          <p:cNvSpPr/>
          <p:nvPr/>
        </p:nvSpPr>
        <p:spPr>
          <a:xfrm>
            <a:off x="9162360" y="4224600"/>
            <a:ext cx="226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Disability advocates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89" name="TextBox 55"/>
          <p:cNvSpPr/>
          <p:nvPr/>
        </p:nvSpPr>
        <p:spPr>
          <a:xfrm>
            <a:off x="9162360" y="452628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Review the tiers and the errors that matter most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290" name="Rounded Rectangle 56"/>
          <p:cNvSpPr/>
          <p:nvPr/>
        </p:nvSpPr>
        <p:spPr>
          <a:xfrm>
            <a:off x="8732520" y="5230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Box 57"/>
          <p:cNvSpPr/>
          <p:nvPr/>
        </p:nvSpPr>
        <p:spPr>
          <a:xfrm>
            <a:off x="8732520" y="5230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92" name="TextBox 58"/>
          <p:cNvSpPr/>
          <p:nvPr/>
        </p:nvSpPr>
        <p:spPr>
          <a:xfrm>
            <a:off x="9162360" y="5203080"/>
            <a:ext cx="226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111827"/>
                </a:solidFill>
                <a:latin typeface="Calibri"/>
              </a:rPr>
              <a:t>GPU hours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293" name="TextBox 59"/>
          <p:cNvSpPr/>
          <p:nvPr/>
        </p:nvSpPr>
        <p:spPr>
          <a:xfrm>
            <a:off x="9162360" y="5504760"/>
            <a:ext cx="2267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50" spc="-1" strike="noStrike">
                <a:solidFill>
                  <a:srgbClr val="374151"/>
                </a:solidFill>
                <a:latin typeface="Calibri"/>
              </a:rPr>
              <a:t>To adapt the model to Pittsburgh</a:t>
            </a:r>
            <a:endParaRPr b="0" lang="en-US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