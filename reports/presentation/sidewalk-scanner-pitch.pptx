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(about 45 seconds)</a:t>
            </a:r>
          </a:p>
          <a:p>
            <a:r>
              <a:t>•  Hi, we're Team YOLO, and this is Sidewalk Scanner.</a:t>
            </a:r>
          </a:p>
          <a:p>
            <a:r>
              <a:t>•  Sidewalk barriers hit nineteen thousand Pittsburghers who struggle to walk, fifty-five thousand seniors, fifteen thousand kids in strollers, and their caregivers.</a:t>
            </a:r>
          </a:p>
          <a:p>
            <a:r>
              <a:t>•  One missing curb ramp, or a pole in the sidewalk, and a wheelchair can't get through.</a:t>
            </a:r>
          </a:p>
          <a:p>
            <a:r>
              <a:t>•  The City needs these barriers for its new ADA plan, but finding them is slow.</a:t>
            </a:r>
          </a:p>
          <a:p>
            <a:r>
              <a:t>•  Walking surveys cost sixteen hundred dollars a mile.</a:t>
            </a:r>
          </a:p>
          <a:p>
            <a:r>
              <a:t>•  Checking Street View by hand covers about six miles a week per person.</a:t>
            </a:r>
          </a:p>
          <a:p>
            <a:r>
              <a:t>•  After six years, only seventeen percent of Pittsburgh is checked. That's the teal on the map.</a:t>
            </a:r>
          </a:p>
          <a:p>
            <a:r>
              <a:t>•  A model is far faster: ours checked twenty-one thousand photos in under ten minutes.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(about 25 seconds)</a:t>
            </a:r>
          </a:p>
          <a:p>
            <a:r>
              <a:t>•  Here's how it works.</a:t>
            </a:r>
          </a:p>
          <a:p>
            <a:r>
              <a:t>•  A street photo goes in, and the model says: missing curb ramp, obstacle, surface problem, or no barrier.</a:t>
            </a:r>
          </a:p>
          <a:p>
            <a:r>
              <a:t>•  Every photo has GPS, so we know exactly where each barrier is.</a:t>
            </a:r>
          </a:p>
          <a:p>
            <a:r>
              <a:t>•  Each barrier then gets a tier. Tier one is near hospitals, schools and busy bus stops.</a:t>
            </a:r>
          </a:p>
          <a:p>
            <a:r>
              <a:t>•  So instead of waiting years, the City gets one citywide list, and planners check Tier one first.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(about 30 seconds)</a:t>
            </a:r>
          </a:p>
          <a:p>
            <a:r>
              <a:t>•  We don't have to label anything to start.</a:t>
            </a:r>
          </a:p>
          <a:p>
            <a:r>
              <a:t>•  Project Sidewalk has published about twenty-one thousand street photos from nineteen cities, each voted on by the crowd.</a:t>
            </a:r>
          </a:p>
          <a:p>
            <a:r>
              <a:t>•  We train on eighteen cities and test on Pittsburgh's five hundred fifty-nine photos.</a:t>
            </a:r>
          </a:p>
          <a:p>
            <a:r>
              <a:t>•  Pittsburgh's Project Sidewalk data tells us where each photo is.</a:t>
            </a:r>
          </a:p>
          <a:p>
            <a:r>
              <a:t>•  City open data on hospitals, schools and bus stops gives us the tiers.</a:t>
            </a:r>
          </a:p>
          <a:p>
            <a:r>
              <a:t>•  We also have RampNet, about two hundred fourteen thousand panoramas, but it only tells us whether a curb ramp is there.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(about 35 seconds)</a:t>
            </a:r>
          </a:p>
          <a:p>
            <a:r>
              <a:t>•  We score it only on Pittsburgh, with two questions for each tier.</a:t>
            </a:r>
          </a:p>
          <a:p>
            <a:r>
              <a:t>•  Found: of the real barriers, how many did we catch?</a:t>
            </a:r>
          </a:p>
          <a:p>
            <a:r>
              <a:t>•  Right: of our flags, how many are real?</a:t>
            </a:r>
          </a:p>
          <a:p>
            <a:r>
              <a:t>•  For the truth, we use five hundred fifty-nine Pittsburgh photos the model never sees in training.</a:t>
            </a:r>
          </a:p>
          <a:p>
            <a:r>
              <a:t>•  We hand-label three hundred Mapillary photos, and we visit sampled spots to check them ourselves.</a:t>
            </a:r>
          </a:p>
          <a:p>
            <a:r>
              <a:t>•  Our targets: at least eighty percent of Tier one flags are real, and we catch more obstacles and surface problems than human labellers.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(about 35 seconds)</a:t>
            </a:r>
          </a:p>
          <a:p>
            <a:r>
              <a:t>•  Our biggest risk is that a model trained in other cities won't work here.</a:t>
            </a:r>
          </a:p>
          <a:p>
            <a:r>
              <a:t>•  RampNet comes from New York, Portland and Bend, but Pittsburgh has hills, over a thousand public stairways, and brick sidewalks.</a:t>
            </a:r>
          </a:p>
          <a:p>
            <a:r>
              <a:t>•  That's why we test only on Pittsburgh and check spots in person.</a:t>
            </a:r>
          </a:p>
          <a:p>
            <a:r>
              <a:t>•  We also don't know yet how many unaudited streets have usable photos.</a:t>
            </a:r>
          </a:p>
          <a:p>
            <a:r>
              <a:t>•  And labels are sparse: a barrier is labelled once, but shows up in many photos.</a:t>
            </a:r>
          </a:p>
          <a:p>
            <a:r>
              <a:t>•  We'd love help with imagery, a DOMI planner, disability advocates, and GPU time. Thank you!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.png"/><Relationship Id="rId4" Type="http://schemas.openxmlformats.org/officeDocument/2006/relationships/image" Target="../media/image2.jpg"/><Relationship Id="rId5" Type="http://schemas.openxmlformats.org/officeDocument/2006/relationships/image" Target="../media/image3.jpg"/><Relationship Id="rId6" Type="http://schemas.openxmlformats.org/officeDocument/2006/relationships/image" Target="../media/image4.jp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5.jpg"/><Relationship Id="rId4" Type="http://schemas.openxmlformats.org/officeDocument/2006/relationships/image" Target="../media/image6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7.jpg"/><Relationship Id="rId4" Type="http://schemas.openxmlformats.org/officeDocument/2006/relationships/image" Target="../media/image8.jpg"/><Relationship Id="rId5" Type="http://schemas.openxmlformats.org/officeDocument/2006/relationships/image" Target="../media/image9.jpg"/><Relationship Id="rId6" Type="http://schemas.openxmlformats.org/officeDocument/2006/relationships/image" Target="../media/image10.jpg"/><Relationship Id="rId7" Type="http://schemas.openxmlformats.org/officeDocument/2006/relationships/image" Target="../media/image11.jpg"/><Relationship Id="rId8" Type="http://schemas.openxmlformats.org/officeDocument/2006/relationships/image" Target="../media/image12.jpg"/><Relationship Id="rId9" Type="http://schemas.openxmlformats.org/officeDocument/2006/relationships/image" Target="../media/image13.jpg"/><Relationship Id="rId10" Type="http://schemas.openxmlformats.org/officeDocument/2006/relationships/image" Target="../media/image14.jp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15.jpg"/><Relationship Id="rId4" Type="http://schemas.openxmlformats.org/officeDocument/2006/relationships/image" Target="../media/image16.jpg"/><Relationship Id="rId5" Type="http://schemas.openxmlformats.org/officeDocument/2006/relationships/image" Target="../media/image17.jpg"/><Relationship Id="rId6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9184"/>
            <a:ext cx="6858000" cy="27432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/>
            <a:r>
              <a:rPr sz="1200" b="1" i="0" spc="80">
                <a:solidFill>
                  <a:srgbClr val="0F766E"/>
                </a:solidFill>
                <a:latin typeface="Calibri"/>
              </a:rPr>
              <a:t>01   </a:t>
            </a:r>
            <a:r>
              <a:rPr sz="1200" b="1" i="0" spc="80">
                <a:solidFill>
                  <a:srgbClr val="6B7280"/>
                </a:solidFill>
                <a:latin typeface="Calibri"/>
              </a:rPr>
              <a:t>THE PROBLEM  ·  WHO HAS IT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754880" y="329184"/>
            <a:ext cx="6885432" cy="27432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r"/>
            <a:r>
              <a:rPr sz="1100" b="0" i="0">
                <a:solidFill>
                  <a:srgbClr val="6B7280"/>
                </a:solidFill>
                <a:latin typeface="Calibri"/>
              </a:rPr>
              <a:t>Team YOLO  ·  Aditya Katkuri  ·  Prateik Sinha  ·  Giridhar Vadhul  ·  JS Durand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03504"/>
            <a:ext cx="11091672" cy="6858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/>
            <a:r>
              <a:rPr sz="2800" b="1" i="0">
                <a:solidFill>
                  <a:srgbClr val="111827"/>
                </a:solidFill>
                <a:latin typeface="Calibri"/>
              </a:rPr>
              <a:t>Pittsburgh still finds sidewalk barriers by hand, and it's slow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045952" y="6547104"/>
            <a:ext cx="594360" cy="201168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r"/>
            <a:r>
              <a:rPr sz="900" b="0" i="0">
                <a:solidFill>
                  <a:srgbClr val="6B7280"/>
                </a:solidFill>
                <a:latin typeface="Calibri"/>
              </a:rPr>
              <a:t>1 / 5</a:t>
            </a:r>
          </a:p>
        </p:txBody>
      </p:sp>
      <p:pic>
        <p:nvPicPr>
          <p:cNvPr id="6" name="Picture 5" descr="map_cover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20040" y="1463040"/>
            <a:ext cx="5943600" cy="4700066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411479" y="1508760"/>
            <a:ext cx="1371600" cy="118872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/>
            <a:r>
              <a:rPr sz="3400" b="1" i="0">
                <a:solidFill>
                  <a:srgbClr val="0F766E"/>
                </a:solidFill>
                <a:latin typeface="Calibri"/>
              </a:rPr>
              <a:t>17%</a:t>
            </a:r>
          </a:p>
          <a:p>
            <a:pPr algn="l"/>
            <a:r>
              <a:rPr sz="1250" b="0" i="0">
                <a:solidFill>
                  <a:srgbClr val="374151"/>
                </a:solidFill>
                <a:latin typeface="Calibri"/>
              </a:rPr>
              <a:t>of streets checked</a:t>
            </a:r>
          </a:p>
          <a:p>
            <a:pPr algn="l"/>
            <a:r>
              <a:rPr sz="1250" b="0" i="0">
                <a:solidFill>
                  <a:srgbClr val="374151"/>
                </a:solidFill>
                <a:latin typeface="Calibri"/>
              </a:rPr>
              <a:t>by hand in 6 years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46520" y="1417320"/>
            <a:ext cx="5193792" cy="256032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/>
            <a:r>
              <a:rPr sz="1100" b="1" i="0" spc="80">
                <a:solidFill>
                  <a:srgbClr val="6B7280"/>
                </a:solidFill>
                <a:latin typeface="Calibri"/>
              </a:rPr>
              <a:t>HOW BARRIERS ARE FOUND TODAY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446520" y="1737360"/>
            <a:ext cx="5193792" cy="566928"/>
          </a:xfrm>
          <a:prstGeom prst="roundRect">
            <a:avLst>
              <a:gd name="adj" fmla="val 12903"/>
            </a:avLst>
          </a:prstGeom>
          <a:solidFill>
            <a:srgbClr val="F3F4F6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629400" y="1801368"/>
            <a:ext cx="2926080" cy="256032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/>
            <a:r>
              <a:rPr sz="1500" b="1" i="0">
                <a:solidFill>
                  <a:srgbClr val="111827"/>
                </a:solidFill>
                <a:latin typeface="Calibri"/>
              </a:rPr>
              <a:t>On foot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629400" y="2057400"/>
            <a:ext cx="2926080" cy="219456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/>
            <a:r>
              <a:rPr sz="1150" b="0" i="0">
                <a:solidFill>
                  <a:srgbClr val="6B7280"/>
                </a:solidFill>
                <a:latin typeface="Calibri"/>
              </a:rPr>
              <a:t>A surveyor walks every block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372600" y="1783080"/>
            <a:ext cx="2084831" cy="292608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r"/>
            <a:r>
              <a:rPr sz="1800" b="1" i="0">
                <a:solidFill>
                  <a:srgbClr val="111827"/>
                </a:solidFill>
                <a:latin typeface="Calibri"/>
              </a:rPr>
              <a:t>$1,600 / mile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372600" y="2066543"/>
            <a:ext cx="2084831" cy="201168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r"/>
            <a:r>
              <a:rPr sz="1050" b="0" i="0">
                <a:solidFill>
                  <a:srgbClr val="6B7280"/>
                </a:solidFill>
                <a:latin typeface="Calibri"/>
              </a:rPr>
              <a:t>field survey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446520" y="2377439"/>
            <a:ext cx="5193792" cy="566928"/>
          </a:xfrm>
          <a:prstGeom prst="roundRect">
            <a:avLst>
              <a:gd name="adj" fmla="val 12903"/>
            </a:avLst>
          </a:prstGeom>
          <a:solidFill>
            <a:srgbClr val="F3F4F6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629400" y="2441447"/>
            <a:ext cx="2926080" cy="256032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/>
            <a:r>
              <a:rPr sz="1500" b="1" i="0">
                <a:solidFill>
                  <a:srgbClr val="111827"/>
                </a:solidFill>
                <a:latin typeface="Calibri"/>
              </a:rPr>
              <a:t>Street View, by hand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629400" y="2697479"/>
            <a:ext cx="2926080" cy="219456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/>
            <a:r>
              <a:rPr sz="1150" b="0" i="0">
                <a:solidFill>
                  <a:srgbClr val="6B7280"/>
                </a:solidFill>
                <a:latin typeface="Calibri"/>
              </a:rPr>
              <a:t>People click through panoramas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372600" y="2423159"/>
            <a:ext cx="2084831" cy="292608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r"/>
            <a:r>
              <a:rPr sz="1800" b="1" i="0">
                <a:solidFill>
                  <a:srgbClr val="111827"/>
                </a:solidFill>
                <a:latin typeface="Calibri"/>
              </a:rPr>
              <a:t>$64 / mile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372600" y="2706623"/>
            <a:ext cx="2084831" cy="201168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r"/>
            <a:r>
              <a:rPr sz="1050" b="0" i="0">
                <a:solidFill>
                  <a:srgbClr val="6B7280"/>
                </a:solidFill>
                <a:latin typeface="Calibri"/>
              </a:rPr>
              <a:t>≈ 6 miles per staff-week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446520" y="3017520"/>
            <a:ext cx="5193792" cy="566928"/>
          </a:xfrm>
          <a:prstGeom prst="roundRect">
            <a:avLst>
              <a:gd name="adj" fmla="val 12903"/>
            </a:avLst>
          </a:prstGeom>
          <a:solidFill>
            <a:srgbClr val="E6F2F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629400" y="3081527"/>
            <a:ext cx="2926080" cy="256032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/>
            <a:r>
              <a:rPr sz="1500" b="1" i="0">
                <a:solidFill>
                  <a:srgbClr val="0F766E"/>
                </a:solidFill>
                <a:latin typeface="Calibri"/>
              </a:rPr>
              <a:t>Automated sweep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629400" y="3337560"/>
            <a:ext cx="2926080" cy="219456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/>
            <a:r>
              <a:rPr sz="1150" b="0" i="0">
                <a:solidFill>
                  <a:srgbClr val="6B7280"/>
                </a:solidFill>
                <a:latin typeface="Calibri"/>
              </a:rPr>
              <a:t>A model checks every photo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372600" y="3063239"/>
            <a:ext cx="2084831" cy="292608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r"/>
            <a:r>
              <a:rPr sz="1800" b="1" i="0">
                <a:solidFill>
                  <a:srgbClr val="0F766E"/>
                </a:solidFill>
                <a:latin typeface="Calibri"/>
              </a:rPr>
              <a:t>21,071 photos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372600" y="3346703"/>
            <a:ext cx="2084831" cy="201168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r"/>
            <a:r>
              <a:rPr sz="1050" b="0" i="0">
                <a:solidFill>
                  <a:srgbClr val="6B7280"/>
                </a:solidFill>
                <a:latin typeface="Calibri"/>
              </a:rPr>
              <a:t>checked in under 10 minutes</a:t>
            </a:r>
          </a:p>
        </p:txBody>
      </p:sp>
      <p:pic>
        <p:nvPicPr>
          <p:cNvPr id="24" name="Picture 23" descr="ncr_1779.jp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446520" y="3730752"/>
            <a:ext cx="1481328" cy="1481328"/>
          </a:xfrm>
          <a:prstGeom prst="rect">
            <a:avLst/>
          </a:prstGeom>
        </p:spPr>
      </p:pic>
      <p:sp>
        <p:nvSpPr>
          <p:cNvPr id="25" name="TextBox 24"/>
          <p:cNvSpPr txBox="1"/>
          <p:nvPr/>
        </p:nvSpPr>
        <p:spPr>
          <a:xfrm>
            <a:off x="6355080" y="5239512"/>
            <a:ext cx="1664208" cy="256032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/>
            <a:r>
              <a:rPr sz="1300" b="1" i="0">
                <a:solidFill>
                  <a:srgbClr val="111827"/>
                </a:solidFill>
                <a:latin typeface="Calibri"/>
              </a:rPr>
              <a:t>Missing curb ramp</a:t>
            </a:r>
          </a:p>
        </p:txBody>
      </p:sp>
      <p:pic>
        <p:nvPicPr>
          <p:cNvPr id="26" name="Picture 25" descr="obs_10574.jp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302752" y="3730752"/>
            <a:ext cx="1481328" cy="1481328"/>
          </a:xfrm>
          <a:prstGeom prst="rect">
            <a:avLst/>
          </a:prstGeom>
        </p:spPr>
      </p:pic>
      <p:sp>
        <p:nvSpPr>
          <p:cNvPr id="27" name="TextBox 26"/>
          <p:cNvSpPr txBox="1"/>
          <p:nvPr/>
        </p:nvSpPr>
        <p:spPr>
          <a:xfrm>
            <a:off x="8211312" y="5239512"/>
            <a:ext cx="1664208" cy="256032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/>
            <a:r>
              <a:rPr sz="1300" b="1" i="0">
                <a:solidFill>
                  <a:srgbClr val="111827"/>
                </a:solidFill>
                <a:latin typeface="Calibri"/>
              </a:rPr>
              <a:t>Obstacle</a:t>
            </a:r>
          </a:p>
        </p:txBody>
      </p:sp>
      <p:pic>
        <p:nvPicPr>
          <p:cNvPr id="28" name="Picture 27" descr="sfc_14216.jp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0158984" y="3730752"/>
            <a:ext cx="1481328" cy="1481328"/>
          </a:xfrm>
          <a:prstGeom prst="rect">
            <a:avLst/>
          </a:prstGeom>
        </p:spPr>
      </p:pic>
      <p:sp>
        <p:nvSpPr>
          <p:cNvPr id="29" name="TextBox 28"/>
          <p:cNvSpPr txBox="1"/>
          <p:nvPr/>
        </p:nvSpPr>
        <p:spPr>
          <a:xfrm>
            <a:off x="10067544" y="5239512"/>
            <a:ext cx="1664208" cy="256032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/>
            <a:r>
              <a:rPr sz="1300" b="1" i="0">
                <a:solidFill>
                  <a:srgbClr val="111827"/>
                </a:solidFill>
                <a:latin typeface="Calibri"/>
              </a:rPr>
              <a:t>Surface problem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446520" y="5577840"/>
            <a:ext cx="5193792" cy="256032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/>
            <a:r>
              <a:rPr sz="1100" b="1" i="0" spc="80">
                <a:solidFill>
                  <a:srgbClr val="6B7280"/>
                </a:solidFill>
                <a:latin typeface="Calibri"/>
              </a:rPr>
              <a:t>WHO GETS STUCK, AND THEIR CAREGIVERS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6446520" y="5870448"/>
            <a:ext cx="1670303" cy="658368"/>
          </a:xfrm>
          <a:prstGeom prst="roundRect">
            <a:avLst>
              <a:gd name="adj" fmla="val 11111"/>
            </a:avLst>
          </a:prstGeom>
          <a:solidFill>
            <a:srgbClr val="F3F4F6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6574536" y="5907024"/>
            <a:ext cx="1487423" cy="292608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/>
            <a:r>
              <a:rPr sz="1800" b="1" i="0">
                <a:solidFill>
                  <a:srgbClr val="0F766E"/>
                </a:solidFill>
                <a:latin typeface="Calibri"/>
              </a:rPr>
              <a:t>19,194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574536" y="6217920"/>
            <a:ext cx="1487423" cy="27432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/>
            <a:r>
              <a:rPr sz="1100" b="0" i="0">
                <a:solidFill>
                  <a:srgbClr val="374151"/>
                </a:solidFill>
                <a:latin typeface="Calibri"/>
              </a:rPr>
              <a:t>struggle to walk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8208264" y="5870448"/>
            <a:ext cx="1670303" cy="658368"/>
          </a:xfrm>
          <a:prstGeom prst="roundRect">
            <a:avLst>
              <a:gd name="adj" fmla="val 11111"/>
            </a:avLst>
          </a:prstGeom>
          <a:solidFill>
            <a:srgbClr val="F3F4F6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8336280" y="5907024"/>
            <a:ext cx="1487423" cy="292608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/>
            <a:r>
              <a:rPr sz="1800" b="1" i="0">
                <a:solidFill>
                  <a:srgbClr val="0F766E"/>
                </a:solidFill>
                <a:latin typeface="Calibri"/>
              </a:rPr>
              <a:t>54,826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8336280" y="6217920"/>
            <a:ext cx="1487423" cy="27432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/>
            <a:r>
              <a:rPr sz="1100" b="0" i="0">
                <a:solidFill>
                  <a:srgbClr val="374151"/>
                </a:solidFill>
                <a:latin typeface="Calibri"/>
              </a:rPr>
              <a:t>seniors, 65 and over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9970008" y="5870448"/>
            <a:ext cx="1670303" cy="658368"/>
          </a:xfrm>
          <a:prstGeom prst="roundRect">
            <a:avLst>
              <a:gd name="adj" fmla="val 11111"/>
            </a:avLst>
          </a:prstGeom>
          <a:solidFill>
            <a:srgbClr val="F3F4F6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10098024" y="5907024"/>
            <a:ext cx="1487423" cy="292608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/>
            <a:r>
              <a:rPr sz="1800" b="1" i="0">
                <a:solidFill>
                  <a:srgbClr val="0F766E"/>
                </a:solidFill>
                <a:latin typeface="Calibri"/>
              </a:rPr>
              <a:t>14,733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10098024" y="6217920"/>
            <a:ext cx="1487423" cy="27432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/>
            <a:r>
              <a:rPr sz="1100" b="0" i="0">
                <a:solidFill>
                  <a:srgbClr val="374151"/>
                </a:solidFill>
                <a:latin typeface="Calibri"/>
              </a:rPr>
              <a:t>kids under 5, in strollers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9184"/>
            <a:ext cx="6858000" cy="27432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/>
            <a:r>
              <a:rPr sz="1200" b="1" i="0" spc="80">
                <a:solidFill>
                  <a:srgbClr val="0F766E"/>
                </a:solidFill>
                <a:latin typeface="Calibri"/>
              </a:rPr>
              <a:t>02   </a:t>
            </a:r>
            <a:r>
              <a:rPr sz="1200" b="1" i="0" spc="80">
                <a:solidFill>
                  <a:srgbClr val="6B7280"/>
                </a:solidFill>
                <a:latin typeface="Calibri"/>
              </a:rPr>
              <a:t>WHAT WE BUILD  ·  WHAT CHANGES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754880" y="329184"/>
            <a:ext cx="6885432" cy="27432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r"/>
            <a:r>
              <a:rPr sz="1100" b="0" i="0">
                <a:solidFill>
                  <a:srgbClr val="6B7280"/>
                </a:solidFill>
                <a:latin typeface="Calibri"/>
              </a:rPr>
              <a:t>Sidewalk Scanner  ·  Team YOLO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03504"/>
            <a:ext cx="11091672" cy="6858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/>
            <a:r>
              <a:rPr sz="2800" b="1" i="0">
                <a:solidFill>
                  <a:srgbClr val="111827"/>
                </a:solidFill>
                <a:latin typeface="Calibri"/>
              </a:rPr>
              <a:t>We turn street photos into a barrier list, sorted by tier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045952" y="6547104"/>
            <a:ext cx="594360" cy="201168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r"/>
            <a:r>
              <a:rPr sz="900" b="0" i="0">
                <a:solidFill>
                  <a:srgbClr val="6B7280"/>
                </a:solidFill>
                <a:latin typeface="Calibri"/>
              </a:rPr>
              <a:t>2 / 5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444752"/>
            <a:ext cx="1947672" cy="310896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/>
            <a:r>
              <a:rPr sz="1600" b="1" i="0">
                <a:solidFill>
                  <a:srgbClr val="0F766E"/>
                </a:solidFill>
                <a:latin typeface="Calibri"/>
              </a:rPr>
              <a:t>1  </a:t>
            </a:r>
            <a:r>
              <a:rPr sz="1600" b="1" i="0">
                <a:solidFill>
                  <a:srgbClr val="111827"/>
                </a:solidFill>
                <a:latin typeface="Calibri"/>
              </a:rPr>
              <a:t>Photo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2560320" y="2770632"/>
            <a:ext cx="210312" cy="0"/>
          </a:xfrm>
          <a:prstGeom prst="line">
            <a:avLst/>
          </a:prstGeom>
          <a:ln w="25400">
            <a:solidFill>
              <a:srgbClr val="6B7280"/>
            </a:solidFill>
            <a:tailEnd type="triangle" w="med" len="med"/>
          </a:ln>
        </p:spPr>
      </p:cxnSp>
      <p:sp>
        <p:nvSpPr>
          <p:cNvPr id="8" name="TextBox 7"/>
          <p:cNvSpPr txBox="1"/>
          <p:nvPr/>
        </p:nvSpPr>
        <p:spPr>
          <a:xfrm>
            <a:off x="2834640" y="1444752"/>
            <a:ext cx="1947672" cy="310896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/>
            <a:r>
              <a:rPr sz="1600" b="1" i="0">
                <a:solidFill>
                  <a:srgbClr val="0F766E"/>
                </a:solidFill>
                <a:latin typeface="Calibri"/>
              </a:rPr>
              <a:t>2  </a:t>
            </a:r>
            <a:r>
              <a:rPr sz="1600" b="1" i="0">
                <a:solidFill>
                  <a:srgbClr val="111827"/>
                </a:solidFill>
                <a:latin typeface="Calibri"/>
              </a:rPr>
              <a:t>Classify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4846320" y="2770632"/>
            <a:ext cx="210311" cy="0"/>
          </a:xfrm>
          <a:prstGeom prst="line">
            <a:avLst/>
          </a:prstGeom>
          <a:ln w="25400">
            <a:solidFill>
              <a:srgbClr val="6B7280"/>
            </a:solidFill>
            <a:tailEnd type="triangle" w="med" len="med"/>
          </a:ln>
        </p:spPr>
      </p:cxnSp>
      <p:sp>
        <p:nvSpPr>
          <p:cNvPr id="10" name="TextBox 9"/>
          <p:cNvSpPr txBox="1"/>
          <p:nvPr/>
        </p:nvSpPr>
        <p:spPr>
          <a:xfrm>
            <a:off x="5120640" y="1444752"/>
            <a:ext cx="1947672" cy="310896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/>
            <a:r>
              <a:rPr sz="1600" b="1" i="0">
                <a:solidFill>
                  <a:srgbClr val="0F766E"/>
                </a:solidFill>
                <a:latin typeface="Calibri"/>
              </a:rPr>
              <a:t>3  </a:t>
            </a:r>
            <a:r>
              <a:rPr sz="1600" b="1" i="0">
                <a:solidFill>
                  <a:srgbClr val="111827"/>
                </a:solidFill>
                <a:latin typeface="Calibri"/>
              </a:rPr>
              <a:t>Locate</a:t>
            </a:r>
          </a:p>
        </p:txBody>
      </p:sp>
      <p:cxnSp>
        <p:nvCxnSpPr>
          <p:cNvPr id="11" name="Connector 10"/>
          <p:cNvCxnSpPr/>
          <p:nvPr/>
        </p:nvCxnSpPr>
        <p:spPr>
          <a:xfrm>
            <a:off x="7132320" y="2770632"/>
            <a:ext cx="210311" cy="0"/>
          </a:xfrm>
          <a:prstGeom prst="line">
            <a:avLst/>
          </a:prstGeom>
          <a:ln w="25400">
            <a:solidFill>
              <a:srgbClr val="6B7280"/>
            </a:solidFill>
            <a:tailEnd type="triangle" w="med" len="med"/>
          </a:ln>
        </p:spPr>
      </p:cxnSp>
      <p:sp>
        <p:nvSpPr>
          <p:cNvPr id="12" name="TextBox 11"/>
          <p:cNvSpPr txBox="1"/>
          <p:nvPr/>
        </p:nvSpPr>
        <p:spPr>
          <a:xfrm>
            <a:off x="7406640" y="1444752"/>
            <a:ext cx="1947672" cy="310896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/>
            <a:r>
              <a:rPr sz="1600" b="1" i="0">
                <a:solidFill>
                  <a:srgbClr val="0F766E"/>
                </a:solidFill>
                <a:latin typeface="Calibri"/>
              </a:rPr>
              <a:t>4  </a:t>
            </a:r>
            <a:r>
              <a:rPr sz="1600" b="1" i="0">
                <a:solidFill>
                  <a:srgbClr val="111827"/>
                </a:solidFill>
                <a:latin typeface="Calibri"/>
              </a:rPr>
              <a:t>Tier</a:t>
            </a:r>
          </a:p>
        </p:txBody>
      </p:sp>
      <p:cxnSp>
        <p:nvCxnSpPr>
          <p:cNvPr id="13" name="Connector 12"/>
          <p:cNvCxnSpPr/>
          <p:nvPr/>
        </p:nvCxnSpPr>
        <p:spPr>
          <a:xfrm>
            <a:off x="9418320" y="2770632"/>
            <a:ext cx="210312" cy="0"/>
          </a:xfrm>
          <a:prstGeom prst="line">
            <a:avLst/>
          </a:prstGeom>
          <a:ln w="25400">
            <a:solidFill>
              <a:srgbClr val="6B7280"/>
            </a:solidFill>
            <a:tailEnd type="triangle" w="med" len="med"/>
          </a:ln>
        </p:spPr>
      </p:cxnSp>
      <p:sp>
        <p:nvSpPr>
          <p:cNvPr id="14" name="TextBox 13"/>
          <p:cNvSpPr txBox="1"/>
          <p:nvPr/>
        </p:nvSpPr>
        <p:spPr>
          <a:xfrm>
            <a:off x="9692640" y="1444752"/>
            <a:ext cx="1947672" cy="310896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/>
            <a:r>
              <a:rPr sz="1600" b="1" i="0">
                <a:solidFill>
                  <a:srgbClr val="0F766E"/>
                </a:solidFill>
                <a:latin typeface="Calibri"/>
              </a:rPr>
              <a:t>5  </a:t>
            </a:r>
            <a:r>
              <a:rPr sz="1600" b="1" i="0">
                <a:solidFill>
                  <a:srgbClr val="111827"/>
                </a:solidFill>
                <a:latin typeface="Calibri"/>
              </a:rPr>
              <a:t>Worklist</a:t>
            </a:r>
          </a:p>
        </p:txBody>
      </p:sp>
      <p:pic>
        <p:nvPicPr>
          <p:cNvPr id="15" name="Picture 14" descr="ncr_23869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62356" y="1810512"/>
            <a:ext cx="1920240" cy="1920240"/>
          </a:xfrm>
          <a:prstGeom prst="rect">
            <a:avLst/>
          </a:prstGeom>
        </p:spPr>
      </p:pic>
      <p:sp>
        <p:nvSpPr>
          <p:cNvPr id="16" name="TextBox 15"/>
          <p:cNvSpPr txBox="1"/>
          <p:nvPr/>
        </p:nvSpPr>
        <p:spPr>
          <a:xfrm>
            <a:off x="548640" y="3803904"/>
            <a:ext cx="1947672" cy="4572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/>
            <a:r>
              <a:rPr sz="1100" b="0" i="0">
                <a:solidFill>
                  <a:srgbClr val="6B7280"/>
                </a:solidFill>
                <a:latin typeface="Calibri"/>
              </a:rPr>
              <a:t>Street-level photo of a sidewalk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2834640" y="1810512"/>
            <a:ext cx="1947672" cy="1920240"/>
          </a:xfrm>
          <a:prstGeom prst="roundRect">
            <a:avLst>
              <a:gd name="adj" fmla="val 4761"/>
            </a:avLst>
          </a:prstGeom>
          <a:solidFill>
            <a:srgbClr val="F3F4F6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2953512" y="1956816"/>
            <a:ext cx="1709928" cy="347472"/>
          </a:xfrm>
          <a:prstGeom prst="roundRect">
            <a:avLst>
              <a:gd name="adj" fmla="val 50000"/>
            </a:avLst>
          </a:prstGeom>
          <a:solidFill>
            <a:srgbClr val="0F766E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2953512" y="1956816"/>
            <a:ext cx="1709928" cy="347472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/>
            <a:r>
              <a:rPr sz="1250" b="1" i="0">
                <a:solidFill>
                  <a:srgbClr val="FFFFFF"/>
                </a:solidFill>
                <a:latin typeface="Calibri"/>
              </a:rPr>
              <a:t>Missing curb ramp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2953512" y="2395728"/>
            <a:ext cx="1709928" cy="347472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9525">
            <a:solidFill>
              <a:srgbClr val="D1D5D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2953512" y="2395728"/>
            <a:ext cx="1709928" cy="347472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/>
            <a:r>
              <a:rPr sz="1250" b="0" i="0">
                <a:solidFill>
                  <a:srgbClr val="374151"/>
                </a:solidFill>
                <a:latin typeface="Calibri"/>
              </a:rPr>
              <a:t>Obstacle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2953512" y="2834640"/>
            <a:ext cx="1709928" cy="347472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9525">
            <a:solidFill>
              <a:srgbClr val="D1D5D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2953512" y="2834640"/>
            <a:ext cx="1709928" cy="347472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/>
            <a:r>
              <a:rPr sz="1250" b="0" i="0">
                <a:solidFill>
                  <a:srgbClr val="374151"/>
                </a:solidFill>
                <a:latin typeface="Calibri"/>
              </a:rPr>
              <a:t>Surface problem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2953512" y="3273552"/>
            <a:ext cx="1709928" cy="347472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9525">
            <a:solidFill>
              <a:srgbClr val="D1D5D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2953512" y="3273552"/>
            <a:ext cx="1709928" cy="347472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/>
            <a:r>
              <a:rPr sz="1250" b="0" i="0">
                <a:solidFill>
                  <a:srgbClr val="374151"/>
                </a:solidFill>
                <a:latin typeface="Calibri"/>
              </a:rPr>
              <a:t>No barrier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2834640" y="3803904"/>
            <a:ext cx="1947672" cy="4572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/>
            <a:r>
              <a:rPr sz="1100" b="0" i="0">
                <a:solidFill>
                  <a:srgbClr val="6B7280"/>
                </a:solidFill>
                <a:latin typeface="Calibri"/>
              </a:rPr>
              <a:t>Image classifier picks one of four classes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5120640" y="1810512"/>
            <a:ext cx="1947672" cy="1920240"/>
          </a:xfrm>
          <a:prstGeom prst="roundRect">
            <a:avLst>
              <a:gd name="adj" fmla="val 4761"/>
            </a:avLst>
          </a:prstGeom>
          <a:solidFill>
            <a:srgbClr val="F3F4F6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8" name="Oval 27"/>
          <p:cNvSpPr/>
          <p:nvPr/>
        </p:nvSpPr>
        <p:spPr>
          <a:xfrm>
            <a:off x="5884163" y="1993392"/>
            <a:ext cx="420624" cy="420624"/>
          </a:xfrm>
          <a:prstGeom prst="ellipse">
            <a:avLst/>
          </a:prstGeom>
          <a:solidFill>
            <a:srgbClr val="0F766E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9" name="Oval 28"/>
          <p:cNvSpPr/>
          <p:nvPr/>
        </p:nvSpPr>
        <p:spPr>
          <a:xfrm>
            <a:off x="6021323" y="2130552"/>
            <a:ext cx="146304" cy="146304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5193792" y="2542032"/>
            <a:ext cx="1801368" cy="11430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spcAft>
                <a:spcPts val="200"/>
              </a:spcAft>
            </a:pPr>
            <a:r>
              <a:rPr sz="1150" b="1" i="0">
                <a:solidFill>
                  <a:srgbClr val="111827"/>
                </a:solidFill>
                <a:latin typeface="Calibri"/>
              </a:rPr>
              <a:t>40.4463° N, 79.9438° W</a:t>
            </a:r>
          </a:p>
          <a:p>
            <a:pPr algn="ctr">
              <a:spcAft>
                <a:spcPts val="200"/>
              </a:spcAft>
            </a:pPr>
            <a:r>
              <a:rPr sz="1150" b="0" i="0">
                <a:solidFill>
                  <a:srgbClr val="374151"/>
                </a:solidFill>
                <a:latin typeface="Calibri"/>
              </a:rPr>
              <a:t>Squirrel Hill North</a:t>
            </a:r>
          </a:p>
          <a:p>
            <a:pPr algn="ctr">
              <a:spcAft>
                <a:spcPts val="200"/>
              </a:spcAft>
            </a:pPr>
            <a:r>
              <a:rPr sz="1150" b="1" i="0">
                <a:solidFill>
                  <a:srgbClr val="111827"/>
                </a:solidFill>
                <a:latin typeface="Calibri"/>
              </a:rPr>
              <a:t>136 m</a:t>
            </a:r>
            <a:r>
              <a:rPr sz="1150" b="0" i="0">
                <a:solidFill>
                  <a:srgbClr val="374151"/>
                </a:solidFill>
                <a:latin typeface="Calibri"/>
              </a:rPr>
              <a:t> to a preschool</a:t>
            </a:r>
          </a:p>
          <a:p>
            <a:pPr algn="ctr">
              <a:spcAft>
                <a:spcPts val="200"/>
              </a:spcAft>
            </a:pPr>
            <a:r>
              <a:rPr sz="1150" b="1" i="0">
                <a:solidFill>
                  <a:srgbClr val="111827"/>
                </a:solidFill>
                <a:latin typeface="Calibri"/>
              </a:rPr>
              <a:t>143 m</a:t>
            </a:r>
            <a:r>
              <a:rPr sz="1150" b="0" i="0">
                <a:solidFill>
                  <a:srgbClr val="374151"/>
                </a:solidFill>
                <a:latin typeface="Calibri"/>
              </a:rPr>
              <a:t> to a bus stop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5120640" y="3803904"/>
            <a:ext cx="1947672" cy="4572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/>
            <a:r>
              <a:rPr sz="1100" b="0" i="0">
                <a:solidFill>
                  <a:srgbClr val="6B7280"/>
                </a:solidFill>
                <a:latin typeface="Calibri"/>
              </a:rPr>
              <a:t>Every photo carries its coordinates</a:t>
            </a:r>
          </a:p>
        </p:txBody>
      </p:sp>
      <p:pic>
        <p:nvPicPr>
          <p:cNvPr id="32" name="Picture 31" descr="map_tiers_zoom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420356" y="1810512"/>
            <a:ext cx="1920240" cy="1920240"/>
          </a:xfrm>
          <a:prstGeom prst="rect">
            <a:avLst/>
          </a:prstGeom>
          <a:ln w="9525">
            <a:solidFill>
              <a:srgbClr val="D1D5DB"/>
            </a:solidFill>
          </a:ln>
        </p:spPr>
      </p:pic>
      <p:sp>
        <p:nvSpPr>
          <p:cNvPr id="33" name="Rounded Rectangle 32"/>
          <p:cNvSpPr/>
          <p:nvPr/>
        </p:nvSpPr>
        <p:spPr>
          <a:xfrm>
            <a:off x="7516367" y="1920240"/>
            <a:ext cx="731520" cy="274320"/>
          </a:xfrm>
          <a:prstGeom prst="roundRect">
            <a:avLst>
              <a:gd name="adj" fmla="val 50000"/>
            </a:avLst>
          </a:prstGeom>
          <a:solidFill>
            <a:srgbClr val="DC2626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7516367" y="1920240"/>
            <a:ext cx="731520" cy="27432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Calibri"/>
              </a:rPr>
              <a:t>Tier 1</a:t>
            </a:r>
          </a:p>
        </p:txBody>
      </p:sp>
      <p:sp>
        <p:nvSpPr>
          <p:cNvPr id="35" name="Rectangle 34"/>
          <p:cNvSpPr/>
          <p:nvPr/>
        </p:nvSpPr>
        <p:spPr>
          <a:xfrm>
            <a:off x="7406640" y="3867912"/>
            <a:ext cx="118872" cy="118872"/>
          </a:xfrm>
          <a:prstGeom prst="rect">
            <a:avLst/>
          </a:prstGeom>
          <a:solidFill>
            <a:srgbClr val="DC2626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7571231" y="3794760"/>
            <a:ext cx="502920" cy="256032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/>
            <a:r>
              <a:rPr sz="1100" b="0" i="0">
                <a:solidFill>
                  <a:srgbClr val="6B7280"/>
                </a:solidFill>
                <a:latin typeface="Calibri"/>
              </a:rPr>
              <a:t>Tier 1</a:t>
            </a:r>
          </a:p>
        </p:txBody>
      </p:sp>
      <p:sp>
        <p:nvSpPr>
          <p:cNvPr id="37" name="Rectangle 36"/>
          <p:cNvSpPr/>
          <p:nvPr/>
        </p:nvSpPr>
        <p:spPr>
          <a:xfrm>
            <a:off x="8055863" y="3867912"/>
            <a:ext cx="118872" cy="118872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8220455" y="3794760"/>
            <a:ext cx="502920" cy="256032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/>
            <a:r>
              <a:rPr sz="1100" b="0" i="0">
                <a:solidFill>
                  <a:srgbClr val="6B7280"/>
                </a:solidFill>
                <a:latin typeface="Calibri"/>
              </a:rPr>
              <a:t>Tier 2</a:t>
            </a:r>
          </a:p>
        </p:txBody>
      </p:sp>
      <p:sp>
        <p:nvSpPr>
          <p:cNvPr id="39" name="Rectangle 38"/>
          <p:cNvSpPr/>
          <p:nvPr/>
        </p:nvSpPr>
        <p:spPr>
          <a:xfrm>
            <a:off x="8705088" y="3867912"/>
            <a:ext cx="118872" cy="118872"/>
          </a:xfrm>
          <a:prstGeom prst="rect">
            <a:avLst/>
          </a:prstGeom>
          <a:solidFill>
            <a:srgbClr val="7C8A9A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8869680" y="3794760"/>
            <a:ext cx="502920" cy="256032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/>
            <a:r>
              <a:rPr sz="1100" b="0" i="0">
                <a:solidFill>
                  <a:srgbClr val="6B7280"/>
                </a:solidFill>
                <a:latin typeface="Calibri"/>
              </a:rPr>
              <a:t>Tier 3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7406640" y="4041648"/>
            <a:ext cx="1947672" cy="256032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/>
            <a:r>
              <a:rPr sz="1000" b="0" i="0">
                <a:solidFill>
                  <a:srgbClr val="6B7280"/>
                </a:solidFill>
                <a:latin typeface="Calibri"/>
              </a:rPr>
              <a:t>■ school, clinic, care   ○ busy stop</a:t>
            </a:r>
          </a:p>
        </p:txBody>
      </p:sp>
      <p:sp>
        <p:nvSpPr>
          <p:cNvPr id="42" name="Rounded Rectangle 41"/>
          <p:cNvSpPr/>
          <p:nvPr/>
        </p:nvSpPr>
        <p:spPr>
          <a:xfrm>
            <a:off x="9692640" y="1810512"/>
            <a:ext cx="1947672" cy="1920240"/>
          </a:xfrm>
          <a:prstGeom prst="roundRect">
            <a:avLst>
              <a:gd name="adj" fmla="val 4761"/>
            </a:avLst>
          </a:prstGeom>
          <a:solidFill>
            <a:srgbClr val="FFFFFF"/>
          </a:solidFill>
          <a:ln w="9525">
            <a:solidFill>
              <a:srgbClr val="D1D5D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9820656" y="1901952"/>
            <a:ext cx="1691639" cy="256032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/>
            <a:r>
              <a:rPr sz="1000" b="1" i="0" spc="80">
                <a:solidFill>
                  <a:srgbClr val="6B7280"/>
                </a:solidFill>
                <a:latin typeface="Calibri"/>
              </a:rPr>
              <a:t>CITY WORKLIST</a:t>
            </a:r>
          </a:p>
        </p:txBody>
      </p:sp>
      <p:sp>
        <p:nvSpPr>
          <p:cNvPr id="44" name="Oval 43"/>
          <p:cNvSpPr/>
          <p:nvPr/>
        </p:nvSpPr>
        <p:spPr>
          <a:xfrm>
            <a:off x="9820656" y="2258568"/>
            <a:ext cx="128016" cy="128016"/>
          </a:xfrm>
          <a:prstGeom prst="ellipse">
            <a:avLst/>
          </a:prstGeom>
          <a:solidFill>
            <a:srgbClr val="DC2626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10021824" y="2194560"/>
            <a:ext cx="1545336" cy="27432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/>
            <a:r>
              <a:rPr sz="1150" b="1" i="0">
                <a:solidFill>
                  <a:srgbClr val="111827"/>
                </a:solidFill>
                <a:latin typeface="Calibri"/>
              </a:rPr>
              <a:t>No ramp</a:t>
            </a:r>
            <a:r>
              <a:rPr sz="1000" b="0" i="0">
                <a:solidFill>
                  <a:srgbClr val="6B7280"/>
                </a:solidFill>
                <a:latin typeface="Calibri"/>
              </a:rPr>
              <a:t>  Squirrel Hill N.</a:t>
            </a:r>
          </a:p>
        </p:txBody>
      </p:sp>
      <p:sp>
        <p:nvSpPr>
          <p:cNvPr id="46" name="Oval 45"/>
          <p:cNvSpPr/>
          <p:nvPr/>
        </p:nvSpPr>
        <p:spPr>
          <a:xfrm>
            <a:off x="9820656" y="2560320"/>
            <a:ext cx="128016" cy="128016"/>
          </a:xfrm>
          <a:prstGeom prst="ellipse">
            <a:avLst/>
          </a:prstGeom>
          <a:solidFill>
            <a:srgbClr val="DC2626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10021824" y="2496312"/>
            <a:ext cx="1545336" cy="27432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/>
            <a:r>
              <a:rPr sz="1150" b="1" i="0">
                <a:solidFill>
                  <a:srgbClr val="111827"/>
                </a:solidFill>
                <a:latin typeface="Calibri"/>
              </a:rPr>
              <a:t>Obstacle</a:t>
            </a:r>
            <a:r>
              <a:rPr sz="1000" b="0" i="0">
                <a:solidFill>
                  <a:srgbClr val="6B7280"/>
                </a:solidFill>
                <a:latin typeface="Calibri"/>
              </a:rPr>
              <a:t>  Bluff</a:t>
            </a:r>
          </a:p>
        </p:txBody>
      </p:sp>
      <p:sp>
        <p:nvSpPr>
          <p:cNvPr id="48" name="Oval 47"/>
          <p:cNvSpPr/>
          <p:nvPr/>
        </p:nvSpPr>
        <p:spPr>
          <a:xfrm>
            <a:off x="9820656" y="2862072"/>
            <a:ext cx="128016" cy="128016"/>
          </a:xfrm>
          <a:prstGeom prst="ellipse">
            <a:avLst/>
          </a:prstGeom>
          <a:solidFill>
            <a:srgbClr val="DC2626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10021824" y="2798064"/>
            <a:ext cx="1545336" cy="27432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/>
            <a:r>
              <a:rPr sz="1150" b="1" i="0">
                <a:solidFill>
                  <a:srgbClr val="111827"/>
                </a:solidFill>
                <a:latin typeface="Calibri"/>
              </a:rPr>
              <a:t>Surface</a:t>
            </a:r>
            <a:r>
              <a:rPr sz="1000" b="0" i="0">
                <a:solidFill>
                  <a:srgbClr val="6B7280"/>
                </a:solidFill>
                <a:latin typeface="Calibri"/>
              </a:rPr>
              <a:t>  North Oakland</a:t>
            </a:r>
          </a:p>
        </p:txBody>
      </p:sp>
      <p:sp>
        <p:nvSpPr>
          <p:cNvPr id="50" name="Oval 49"/>
          <p:cNvSpPr/>
          <p:nvPr/>
        </p:nvSpPr>
        <p:spPr>
          <a:xfrm>
            <a:off x="9820656" y="3163823"/>
            <a:ext cx="128016" cy="128016"/>
          </a:xfrm>
          <a:prstGeom prst="ellipse">
            <a:avLst/>
          </a:prstGeom>
          <a:solidFill>
            <a:srgbClr val="DC2626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10021824" y="3099815"/>
            <a:ext cx="1545336" cy="27432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/>
            <a:r>
              <a:rPr sz="1150" b="1" i="0">
                <a:solidFill>
                  <a:srgbClr val="111827"/>
                </a:solidFill>
                <a:latin typeface="Calibri"/>
              </a:rPr>
              <a:t>No ramp</a:t>
            </a:r>
            <a:r>
              <a:rPr sz="1000" b="0" i="0">
                <a:solidFill>
                  <a:srgbClr val="6B7280"/>
                </a:solidFill>
                <a:latin typeface="Calibri"/>
              </a:rPr>
              <a:t>  Downtown</a:t>
            </a:r>
          </a:p>
        </p:txBody>
      </p:sp>
      <p:sp>
        <p:nvSpPr>
          <p:cNvPr id="52" name="Oval 51"/>
          <p:cNvSpPr/>
          <p:nvPr/>
        </p:nvSpPr>
        <p:spPr>
          <a:xfrm>
            <a:off x="9820656" y="3465575"/>
            <a:ext cx="128016" cy="128016"/>
          </a:xfrm>
          <a:prstGeom prst="ellipse">
            <a:avLst/>
          </a:prstGeom>
          <a:solidFill>
            <a:srgbClr val="F59E0B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10021824" y="3401568"/>
            <a:ext cx="1545336" cy="27432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/>
            <a:r>
              <a:rPr sz="1150" b="1" i="0">
                <a:solidFill>
                  <a:srgbClr val="111827"/>
                </a:solidFill>
                <a:latin typeface="Calibri"/>
              </a:rPr>
              <a:t>Surface</a:t>
            </a:r>
            <a:r>
              <a:rPr sz="1000" b="0" i="0">
                <a:solidFill>
                  <a:srgbClr val="6B7280"/>
                </a:solidFill>
                <a:latin typeface="Calibri"/>
              </a:rPr>
              <a:t>  Greenfield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9692640" y="3803904"/>
            <a:ext cx="1947672" cy="4572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/>
            <a:r>
              <a:rPr sz="1100" b="0" i="0">
                <a:solidFill>
                  <a:srgbClr val="6B7280"/>
                </a:solidFill>
                <a:latin typeface="Calibri"/>
              </a:rPr>
              <a:t>Planners check Tier 1 first, then schedule repairs</a:t>
            </a:r>
          </a:p>
        </p:txBody>
      </p:sp>
      <p:sp>
        <p:nvSpPr>
          <p:cNvPr id="55" name="Rounded Rectangle 54"/>
          <p:cNvSpPr/>
          <p:nvPr/>
        </p:nvSpPr>
        <p:spPr>
          <a:xfrm>
            <a:off x="548640" y="4526280"/>
            <a:ext cx="5257800" cy="1737360"/>
          </a:xfrm>
          <a:prstGeom prst="roundRect">
            <a:avLst>
              <a:gd name="adj" fmla="val 5263"/>
            </a:avLst>
          </a:prstGeom>
          <a:solidFill>
            <a:srgbClr val="F3F4F6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6" name="TextBox 55"/>
          <p:cNvSpPr txBox="1"/>
          <p:nvPr/>
        </p:nvSpPr>
        <p:spPr>
          <a:xfrm>
            <a:off x="804672" y="4709160"/>
            <a:ext cx="4754880" cy="256032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/>
            <a:r>
              <a:rPr sz="1100" b="1" i="0" spc="80">
                <a:solidFill>
                  <a:srgbClr val="6B7280"/>
                </a:solidFill>
                <a:latin typeface="Calibri"/>
              </a:rPr>
              <a:t>TODAY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804672" y="5038344"/>
            <a:ext cx="4754880" cy="11430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spcAft>
                <a:spcPts val="400"/>
              </a:spcAft>
            </a:pPr>
            <a:r>
              <a:rPr sz="1600" b="0" i="0">
                <a:solidFill>
                  <a:srgbClr val="374151"/>
                </a:solidFill>
                <a:latin typeface="Calibri"/>
              </a:rPr>
              <a:t>•  People walk streets or click through Street View</a:t>
            </a:r>
          </a:p>
          <a:p>
            <a:pPr algn="l">
              <a:spcAft>
                <a:spcPts val="400"/>
              </a:spcAft>
            </a:pPr>
            <a:r>
              <a:rPr sz="1600" b="0" i="0">
                <a:solidFill>
                  <a:srgbClr val="374151"/>
                </a:solidFill>
                <a:latin typeface="Calibri"/>
              </a:rPr>
              <a:t>•  About 6 miles per staff-week</a:t>
            </a:r>
          </a:p>
          <a:p>
            <a:pPr algn="l">
              <a:spcAft>
                <a:spcPts val="400"/>
              </a:spcAft>
            </a:pPr>
            <a:r>
              <a:rPr sz="1600" b="0" i="0">
                <a:solidFill>
                  <a:srgbClr val="374151"/>
                </a:solidFill>
                <a:latin typeface="Calibri"/>
              </a:rPr>
              <a:t>•  17% of Pittsburgh checked in 6 years</a:t>
            </a:r>
          </a:p>
        </p:txBody>
      </p:sp>
      <p:cxnSp>
        <p:nvCxnSpPr>
          <p:cNvPr id="58" name="Connector 57"/>
          <p:cNvCxnSpPr/>
          <p:nvPr/>
        </p:nvCxnSpPr>
        <p:spPr>
          <a:xfrm>
            <a:off x="5897880" y="5394960"/>
            <a:ext cx="393192" cy="0"/>
          </a:xfrm>
          <a:prstGeom prst="line">
            <a:avLst/>
          </a:prstGeom>
          <a:ln w="31750">
            <a:solidFill>
              <a:srgbClr val="0F766E"/>
            </a:solidFill>
            <a:tailEnd type="triangle" w="med" len="med"/>
          </a:ln>
        </p:spPr>
      </p:cxnSp>
      <p:sp>
        <p:nvSpPr>
          <p:cNvPr id="59" name="Rounded Rectangle 58"/>
          <p:cNvSpPr/>
          <p:nvPr/>
        </p:nvSpPr>
        <p:spPr>
          <a:xfrm>
            <a:off x="6382512" y="4526280"/>
            <a:ext cx="5257800" cy="1737360"/>
          </a:xfrm>
          <a:prstGeom prst="roundRect">
            <a:avLst>
              <a:gd name="adj" fmla="val 5263"/>
            </a:avLst>
          </a:prstGeom>
          <a:solidFill>
            <a:srgbClr val="E6F2F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0" name="TextBox 59"/>
          <p:cNvSpPr txBox="1"/>
          <p:nvPr/>
        </p:nvSpPr>
        <p:spPr>
          <a:xfrm>
            <a:off x="6638544" y="4709160"/>
            <a:ext cx="4754880" cy="256032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/>
            <a:r>
              <a:rPr sz="1100" b="1" i="0" spc="80">
                <a:solidFill>
                  <a:srgbClr val="0F766E"/>
                </a:solidFill>
                <a:latin typeface="Calibri"/>
              </a:rPr>
              <a:t>WITH SIDEWALK SCANNER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6638544" y="5038344"/>
            <a:ext cx="4846320" cy="11430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spcAft>
                <a:spcPts val="400"/>
              </a:spcAft>
            </a:pPr>
            <a:r>
              <a:rPr sz="1600" b="0" i="0">
                <a:solidFill>
                  <a:srgbClr val="111827"/>
                </a:solidFill>
                <a:latin typeface="Calibri"/>
              </a:rPr>
              <a:t>•  A model sweeps every street photo</a:t>
            </a:r>
          </a:p>
          <a:p>
            <a:pPr algn="l">
              <a:spcAft>
                <a:spcPts val="400"/>
              </a:spcAft>
            </a:pPr>
            <a:r>
              <a:rPr sz="1600" b="0" i="0">
                <a:solidFill>
                  <a:srgbClr val="111827"/>
                </a:solidFill>
                <a:latin typeface="Calibri"/>
              </a:rPr>
              <a:t>•  Re-run whenever new imagery arrives</a:t>
            </a:r>
          </a:p>
          <a:p>
            <a:pPr algn="l">
              <a:spcAft>
                <a:spcPts val="400"/>
              </a:spcAft>
            </a:pPr>
            <a:r>
              <a:rPr sz="1600" b="0" i="0">
                <a:solidFill>
                  <a:srgbClr val="111827"/>
                </a:solidFill>
                <a:latin typeface="Calibri"/>
              </a:rPr>
              <a:t>•  Planners check Tier 1 first: 28% of street km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9184"/>
            <a:ext cx="6858000" cy="27432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/>
            <a:r>
              <a:rPr sz="1200" b="1" i="0" spc="80">
                <a:solidFill>
                  <a:srgbClr val="0F766E"/>
                </a:solidFill>
                <a:latin typeface="Calibri"/>
              </a:rPr>
              <a:t>03   </a:t>
            </a:r>
            <a:r>
              <a:rPr sz="1200" b="1" i="0" spc="80">
                <a:solidFill>
                  <a:srgbClr val="6B7280"/>
                </a:solidFill>
                <a:latin typeface="Calibri"/>
              </a:rPr>
              <a:t>DATA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754880" y="329184"/>
            <a:ext cx="6885432" cy="27432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r"/>
            <a:r>
              <a:rPr sz="1100" b="0" i="0">
                <a:solidFill>
                  <a:srgbClr val="6B7280"/>
                </a:solidFill>
                <a:latin typeface="Calibri"/>
              </a:rPr>
              <a:t>Sidewalk Scanner  ·  Team YOLO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03504"/>
            <a:ext cx="11091672" cy="6858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/>
            <a:r>
              <a:rPr sz="2800" b="1" i="0">
                <a:solidFill>
                  <a:srgbClr val="111827"/>
                </a:solidFill>
                <a:latin typeface="Calibri"/>
              </a:rPr>
              <a:t>We learn from 18 cities and test on Pittsburgh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045952" y="6547104"/>
            <a:ext cx="594360" cy="201168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r"/>
            <a:r>
              <a:rPr sz="900" b="0" i="0">
                <a:solidFill>
                  <a:srgbClr val="6B7280"/>
                </a:solidFill>
                <a:latin typeface="Calibri"/>
              </a:rPr>
              <a:t>3 / 5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847088"/>
            <a:ext cx="6263640" cy="256032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/>
            <a:r>
              <a:rPr sz="1100" b="1" i="0" spc="80">
                <a:solidFill>
                  <a:srgbClr val="6B7280"/>
                </a:solidFill>
                <a:latin typeface="Calibri"/>
              </a:rPr>
              <a:t>18 OTHER CITIES  ·  TRAINING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3895344"/>
            <a:ext cx="6263640" cy="256032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/>
            <a:r>
              <a:rPr sz="1100" b="1" i="0" spc="80">
                <a:solidFill>
                  <a:srgbClr val="0F766E"/>
                </a:solidFill>
                <a:latin typeface="Calibri"/>
              </a:rPr>
              <a:t>PITTSBURGH  ·  HELD-OUT TEST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1463040"/>
            <a:ext cx="1463040" cy="292608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/>
            <a:r>
              <a:rPr sz="1400" b="1" i="0">
                <a:solidFill>
                  <a:srgbClr val="111827"/>
                </a:solidFill>
                <a:latin typeface="Calibri"/>
              </a:rPr>
              <a:t>Missing curb ramp</a:t>
            </a:r>
          </a:p>
        </p:txBody>
      </p:sp>
      <p:pic>
        <p:nvPicPr>
          <p:cNvPr id="9" name="Picture 8" descr="teaneck_11267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8640" y="2176272"/>
            <a:ext cx="1463040" cy="1463040"/>
          </a:xfrm>
          <a:prstGeom prst="rect">
            <a:avLst/>
          </a:prstGeom>
        </p:spPr>
      </p:pic>
      <p:sp>
        <p:nvSpPr>
          <p:cNvPr id="10" name="Rectangle 9"/>
          <p:cNvSpPr/>
          <p:nvPr/>
        </p:nvSpPr>
        <p:spPr>
          <a:xfrm>
            <a:off x="548640" y="3383280"/>
            <a:ext cx="1463040" cy="256032"/>
          </a:xfrm>
          <a:prstGeom prst="rect">
            <a:avLst/>
          </a:prstGeom>
          <a:solidFill>
            <a:srgbClr val="111827">
              <a:alpha val="72000"/>
            </a:srgbClr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21792" y="3383280"/>
            <a:ext cx="1353312" cy="256032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/>
            <a:r>
              <a:rPr sz="1050" b="1" i="0">
                <a:solidFill>
                  <a:srgbClr val="FFFFFF"/>
                </a:solidFill>
                <a:latin typeface="Calibri"/>
              </a:rPr>
              <a:t>Teaneck  ·  5,107</a:t>
            </a:r>
          </a:p>
        </p:txBody>
      </p:sp>
      <p:pic>
        <p:nvPicPr>
          <p:cNvPr id="12" name="Picture 11" descr="ncr_9511.jp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48640" y="4224528"/>
            <a:ext cx="1463040" cy="1463040"/>
          </a:xfrm>
          <a:prstGeom prst="rect">
            <a:avLst/>
          </a:prstGeom>
        </p:spPr>
      </p:pic>
      <p:sp>
        <p:nvSpPr>
          <p:cNvPr id="13" name="Rectangle 12"/>
          <p:cNvSpPr/>
          <p:nvPr/>
        </p:nvSpPr>
        <p:spPr>
          <a:xfrm>
            <a:off x="548640" y="5431536"/>
            <a:ext cx="1463040" cy="256032"/>
          </a:xfrm>
          <a:prstGeom prst="rect">
            <a:avLst/>
          </a:prstGeom>
          <a:solidFill>
            <a:srgbClr val="111827">
              <a:alpha val="72000"/>
            </a:srgbClr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21792" y="5431536"/>
            <a:ext cx="1353312" cy="256032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/>
            <a:r>
              <a:rPr sz="1050" b="1" i="0">
                <a:solidFill>
                  <a:srgbClr val="FFFFFF"/>
                </a:solidFill>
                <a:latin typeface="Calibri"/>
              </a:rPr>
              <a:t>Pittsburgh  ·  200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148840" y="1463040"/>
            <a:ext cx="1463040" cy="292608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/>
            <a:r>
              <a:rPr sz="1400" b="1" i="0">
                <a:solidFill>
                  <a:srgbClr val="111827"/>
                </a:solidFill>
                <a:latin typeface="Calibri"/>
              </a:rPr>
              <a:t>Obstacle</a:t>
            </a:r>
          </a:p>
        </p:txBody>
      </p:sp>
      <p:pic>
        <p:nvPicPr>
          <p:cNvPr id="16" name="Picture 15" descr="sea_169860.jp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148840" y="2176272"/>
            <a:ext cx="1463040" cy="1463040"/>
          </a:xfrm>
          <a:prstGeom prst="rect">
            <a:avLst/>
          </a:prstGeom>
        </p:spPr>
      </p:pic>
      <p:sp>
        <p:nvSpPr>
          <p:cNvPr id="17" name="Rectangle 16"/>
          <p:cNvSpPr/>
          <p:nvPr/>
        </p:nvSpPr>
        <p:spPr>
          <a:xfrm>
            <a:off x="2148840" y="3383280"/>
            <a:ext cx="1463040" cy="256032"/>
          </a:xfrm>
          <a:prstGeom prst="rect">
            <a:avLst/>
          </a:prstGeom>
          <a:solidFill>
            <a:srgbClr val="111827">
              <a:alpha val="72000"/>
            </a:srgbClr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2221992" y="3383280"/>
            <a:ext cx="1353312" cy="256032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/>
            <a:r>
              <a:rPr sz="1050" b="1" i="0">
                <a:solidFill>
                  <a:srgbClr val="FFFFFF"/>
                </a:solidFill>
                <a:latin typeface="Calibri"/>
              </a:rPr>
              <a:t>Seattle  ·  2,931</a:t>
            </a:r>
          </a:p>
        </p:txBody>
      </p:sp>
      <p:pic>
        <p:nvPicPr>
          <p:cNvPr id="19" name="Picture 18" descr="obs_16325.jp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2148840" y="4224528"/>
            <a:ext cx="1463040" cy="1463040"/>
          </a:xfrm>
          <a:prstGeom prst="rect">
            <a:avLst/>
          </a:prstGeom>
        </p:spPr>
      </p:pic>
      <p:sp>
        <p:nvSpPr>
          <p:cNvPr id="20" name="Rectangle 19"/>
          <p:cNvSpPr/>
          <p:nvPr/>
        </p:nvSpPr>
        <p:spPr>
          <a:xfrm>
            <a:off x="2148840" y="5431536"/>
            <a:ext cx="1463040" cy="256032"/>
          </a:xfrm>
          <a:prstGeom prst="rect">
            <a:avLst/>
          </a:prstGeom>
          <a:solidFill>
            <a:srgbClr val="111827">
              <a:alpha val="72000"/>
            </a:srgbClr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2221992" y="5431536"/>
            <a:ext cx="1353312" cy="256032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/>
            <a:r>
              <a:rPr sz="1050" b="1" i="0">
                <a:solidFill>
                  <a:srgbClr val="FFFFFF"/>
                </a:solidFill>
                <a:latin typeface="Calibri"/>
              </a:rPr>
              <a:t>Pittsburgh  ·  15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749039" y="1463040"/>
            <a:ext cx="1463040" cy="292608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/>
            <a:r>
              <a:rPr sz="1400" b="1" i="0">
                <a:solidFill>
                  <a:srgbClr val="111827"/>
                </a:solidFill>
                <a:latin typeface="Calibri"/>
              </a:rPr>
              <a:t>Surface problem</a:t>
            </a:r>
          </a:p>
        </p:txBody>
      </p:sp>
      <p:pic>
        <p:nvPicPr>
          <p:cNvPr id="23" name="Picture 22" descr="chicago_121128.jp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3749039" y="2176272"/>
            <a:ext cx="1463040" cy="1463040"/>
          </a:xfrm>
          <a:prstGeom prst="rect">
            <a:avLst/>
          </a:prstGeom>
        </p:spPr>
      </p:pic>
      <p:sp>
        <p:nvSpPr>
          <p:cNvPr id="24" name="Rectangle 23"/>
          <p:cNvSpPr/>
          <p:nvPr/>
        </p:nvSpPr>
        <p:spPr>
          <a:xfrm>
            <a:off x="3749039" y="3383280"/>
            <a:ext cx="1463040" cy="256032"/>
          </a:xfrm>
          <a:prstGeom prst="rect">
            <a:avLst/>
          </a:prstGeom>
          <a:solidFill>
            <a:srgbClr val="111827">
              <a:alpha val="72000"/>
            </a:srgbClr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3822191" y="3383280"/>
            <a:ext cx="1353312" cy="256032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/>
            <a:r>
              <a:rPr sz="1050" b="1" i="0">
                <a:solidFill>
                  <a:srgbClr val="FFFFFF"/>
                </a:solidFill>
                <a:latin typeface="Calibri"/>
              </a:rPr>
              <a:t>Chicago  ·  3,962</a:t>
            </a:r>
          </a:p>
        </p:txBody>
      </p:sp>
      <p:pic>
        <p:nvPicPr>
          <p:cNvPr id="26" name="Picture 25" descr="sfc_5178.jp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3749039" y="4224528"/>
            <a:ext cx="1463040" cy="1463040"/>
          </a:xfrm>
          <a:prstGeom prst="rect">
            <a:avLst/>
          </a:prstGeom>
        </p:spPr>
      </p:pic>
      <p:sp>
        <p:nvSpPr>
          <p:cNvPr id="27" name="Rectangle 26"/>
          <p:cNvSpPr/>
          <p:nvPr/>
        </p:nvSpPr>
        <p:spPr>
          <a:xfrm>
            <a:off x="3749039" y="5431536"/>
            <a:ext cx="1463040" cy="256032"/>
          </a:xfrm>
          <a:prstGeom prst="rect">
            <a:avLst/>
          </a:prstGeom>
          <a:solidFill>
            <a:srgbClr val="111827">
              <a:alpha val="72000"/>
            </a:srgbClr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3822191" y="5431536"/>
            <a:ext cx="1353312" cy="256032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/>
            <a:r>
              <a:rPr sz="1050" b="1" i="0">
                <a:solidFill>
                  <a:srgbClr val="FFFFFF"/>
                </a:solidFill>
                <a:latin typeface="Calibri"/>
              </a:rPr>
              <a:t>Pittsburgh  ·  162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5349240" y="1463040"/>
            <a:ext cx="1463040" cy="292608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/>
            <a:r>
              <a:rPr sz="1400" b="1" i="0">
                <a:solidFill>
                  <a:srgbClr val="111827"/>
                </a:solidFill>
                <a:latin typeface="Calibri"/>
              </a:rPr>
              <a:t>No barrier*</a:t>
            </a:r>
          </a:p>
        </p:txBody>
      </p:sp>
      <p:pic>
        <p:nvPicPr>
          <p:cNvPr id="30" name="Picture 29" descr="taipei_44530.jp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5349240" y="2176272"/>
            <a:ext cx="1463040" cy="1463040"/>
          </a:xfrm>
          <a:prstGeom prst="rect">
            <a:avLst/>
          </a:prstGeom>
        </p:spPr>
      </p:pic>
      <p:sp>
        <p:nvSpPr>
          <p:cNvPr id="31" name="Rectangle 30"/>
          <p:cNvSpPr/>
          <p:nvPr/>
        </p:nvSpPr>
        <p:spPr>
          <a:xfrm>
            <a:off x="5349240" y="3383280"/>
            <a:ext cx="1463040" cy="256032"/>
          </a:xfrm>
          <a:prstGeom prst="rect">
            <a:avLst/>
          </a:prstGeom>
          <a:solidFill>
            <a:srgbClr val="111827">
              <a:alpha val="72000"/>
            </a:srgbClr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5422392" y="3383280"/>
            <a:ext cx="1353312" cy="256032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/>
            <a:r>
              <a:rPr sz="1050" b="1" i="0">
                <a:solidFill>
                  <a:srgbClr val="FFFFFF"/>
                </a:solidFill>
                <a:latin typeface="Calibri"/>
              </a:rPr>
              <a:t>Taipei  ·  8,512</a:t>
            </a:r>
          </a:p>
        </p:txBody>
      </p:sp>
      <p:pic>
        <p:nvPicPr>
          <p:cNvPr id="33" name="Picture 32" descr="rej_sfc_15791.jp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5349240" y="4224528"/>
            <a:ext cx="1463040" cy="1463040"/>
          </a:xfrm>
          <a:prstGeom prst="rect">
            <a:avLst/>
          </a:prstGeom>
        </p:spPr>
      </p:pic>
      <p:sp>
        <p:nvSpPr>
          <p:cNvPr id="34" name="Rectangle 33"/>
          <p:cNvSpPr/>
          <p:nvPr/>
        </p:nvSpPr>
        <p:spPr>
          <a:xfrm>
            <a:off x="5349240" y="5431536"/>
            <a:ext cx="1463040" cy="256032"/>
          </a:xfrm>
          <a:prstGeom prst="rect">
            <a:avLst/>
          </a:prstGeom>
          <a:solidFill>
            <a:srgbClr val="111827">
              <a:alpha val="72000"/>
            </a:srgbClr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5422392" y="5431536"/>
            <a:ext cx="1353312" cy="256032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/>
            <a:r>
              <a:rPr sz="1050" b="1" i="0">
                <a:solidFill>
                  <a:srgbClr val="FFFFFF"/>
                </a:solidFill>
                <a:latin typeface="Calibri"/>
              </a:rPr>
              <a:t>Pittsburgh  ·  182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548640" y="5870448"/>
            <a:ext cx="6309360" cy="36576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/>
            <a:r>
              <a:rPr sz="1300" b="1" i="0">
                <a:solidFill>
                  <a:srgbClr val="111827"/>
                </a:solidFill>
                <a:latin typeface="Calibri"/>
              </a:rPr>
              <a:t>Label = crowd verdict. </a:t>
            </a:r>
            <a:r>
              <a:rPr sz="1300" b="0" i="0">
                <a:solidFill>
                  <a:srgbClr val="374151"/>
                </a:solidFill>
                <a:latin typeface="Calibri"/>
              </a:rPr>
              <a:t>Confirmed → that barrier.  *Rejected → “no barrier”.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7178040" y="1508760"/>
            <a:ext cx="4462272" cy="256032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/>
            <a:r>
              <a:rPr sz="1100" b="1" i="0" spc="80">
                <a:solidFill>
                  <a:srgbClr val="6B7280"/>
                </a:solidFill>
                <a:latin typeface="Calibri"/>
              </a:rPr>
              <a:t>SPLIT BY CITY, NOT AT RANDOM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7178040" y="1847088"/>
            <a:ext cx="4078224" cy="457200"/>
          </a:xfrm>
          <a:prstGeom prst="roundRect">
            <a:avLst>
              <a:gd name="adj" fmla="val 12000"/>
            </a:avLst>
          </a:prstGeom>
          <a:solidFill>
            <a:srgbClr val="475569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7324344" y="1847088"/>
            <a:ext cx="3803904" cy="4572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  <a:latin typeface="Calibri"/>
              </a:rPr>
              <a:t>Train  </a:t>
            </a:r>
            <a:r>
              <a:rPr sz="1300" b="0" i="0">
                <a:solidFill>
                  <a:srgbClr val="FFFFFF"/>
                </a:solidFill>
                <a:latin typeface="Calibri"/>
              </a:rPr>
              <a:t>18 cities  ·  20,512 photos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11347703" y="1847088"/>
            <a:ext cx="292608" cy="457200"/>
          </a:xfrm>
          <a:prstGeom prst="roundRect">
            <a:avLst>
              <a:gd name="adj" fmla="val 18750"/>
            </a:avLst>
          </a:prstGeom>
          <a:solidFill>
            <a:srgbClr val="0F766E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7178040" y="2350008"/>
            <a:ext cx="4462272" cy="27432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r"/>
            <a:r>
              <a:rPr sz="1200" b="1" i="0">
                <a:solidFill>
                  <a:srgbClr val="0F766E"/>
                </a:solidFill>
                <a:latin typeface="Calibri"/>
              </a:rPr>
              <a:t>Test  </a:t>
            </a:r>
            <a:r>
              <a:rPr sz="1200" b="0" i="0">
                <a:solidFill>
                  <a:srgbClr val="0F766E"/>
                </a:solidFill>
                <a:latin typeface="Calibri"/>
              </a:rPr>
              <a:t>Pittsburgh  ·  559 photos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7178040" y="2852928"/>
            <a:ext cx="4462272" cy="256032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/>
            <a:r>
              <a:rPr sz="1100" b="1" i="0" spc="80">
                <a:solidFill>
                  <a:srgbClr val="6B7280"/>
                </a:solidFill>
                <a:latin typeface="Calibri"/>
              </a:rPr>
              <a:t>WHERE EACH PIECE COMES FROM</a:t>
            </a:r>
          </a:p>
        </p:txBody>
      </p:sp>
      <p:sp>
        <p:nvSpPr>
          <p:cNvPr id="43" name="Rounded Rectangle 42"/>
          <p:cNvSpPr/>
          <p:nvPr/>
        </p:nvSpPr>
        <p:spPr>
          <a:xfrm>
            <a:off x="7178040" y="3218688"/>
            <a:ext cx="347472" cy="347472"/>
          </a:xfrm>
          <a:prstGeom prst="roundRect">
            <a:avLst>
              <a:gd name="adj" fmla="val 50000"/>
            </a:avLst>
          </a:prstGeom>
          <a:solidFill>
            <a:srgbClr val="0F766E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7178040" y="3218688"/>
            <a:ext cx="347472" cy="347472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  <a:latin typeface="Calibri"/>
              </a:rPr>
              <a:t>1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7680960" y="3200400"/>
            <a:ext cx="3959352" cy="27432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/>
            <a:r>
              <a:rPr sz="1450" b="1" i="0">
                <a:solidFill>
                  <a:srgbClr val="111827"/>
                </a:solidFill>
                <a:latin typeface="Calibri"/>
              </a:rPr>
              <a:t>Project Sidewalk photos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7680960" y="3483864"/>
            <a:ext cx="3959352" cy="4572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/>
            <a:r>
              <a:rPr sz="1200" b="0" i="0">
                <a:solidFill>
                  <a:srgbClr val="374151"/>
                </a:solidFill>
                <a:latin typeface="Calibri"/>
              </a:rPr>
              <a:t>21,071 crowd-labelled Street View crops, 19 cities</a:t>
            </a:r>
          </a:p>
        </p:txBody>
      </p:sp>
      <p:sp>
        <p:nvSpPr>
          <p:cNvPr id="47" name="Rounded Rectangle 46"/>
          <p:cNvSpPr/>
          <p:nvPr/>
        </p:nvSpPr>
        <p:spPr>
          <a:xfrm>
            <a:off x="7178040" y="3986783"/>
            <a:ext cx="347472" cy="347472"/>
          </a:xfrm>
          <a:prstGeom prst="roundRect">
            <a:avLst>
              <a:gd name="adj" fmla="val 50000"/>
            </a:avLst>
          </a:prstGeom>
          <a:solidFill>
            <a:srgbClr val="0F766E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7178040" y="3986783"/>
            <a:ext cx="347472" cy="347472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  <a:latin typeface="Calibri"/>
              </a:rPr>
              <a:t>2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7680960" y="3968496"/>
            <a:ext cx="3959352" cy="27432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/>
            <a:r>
              <a:rPr sz="1450" b="1" i="0">
                <a:solidFill>
                  <a:srgbClr val="111827"/>
                </a:solidFill>
                <a:latin typeface="Calibri"/>
              </a:rPr>
              <a:t>Project Sidewalk Pittsburgh API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7680960" y="4251959"/>
            <a:ext cx="3959352" cy="4572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/>
            <a:r>
              <a:rPr sz="1200" b="0" i="0">
                <a:solidFill>
                  <a:srgbClr val="374151"/>
                </a:solidFill>
                <a:latin typeface="Calibri"/>
              </a:rPr>
              <a:t>25,690 labels with GPS: where each test photo is</a:t>
            </a:r>
          </a:p>
        </p:txBody>
      </p:sp>
      <p:sp>
        <p:nvSpPr>
          <p:cNvPr id="51" name="Rounded Rectangle 50"/>
          <p:cNvSpPr/>
          <p:nvPr/>
        </p:nvSpPr>
        <p:spPr>
          <a:xfrm>
            <a:off x="7178040" y="4754879"/>
            <a:ext cx="347472" cy="347472"/>
          </a:xfrm>
          <a:prstGeom prst="roundRect">
            <a:avLst>
              <a:gd name="adj" fmla="val 50000"/>
            </a:avLst>
          </a:prstGeom>
          <a:solidFill>
            <a:srgbClr val="0F766E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7178040" y="4754879"/>
            <a:ext cx="347472" cy="347472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  <a:latin typeface="Calibri"/>
              </a:rPr>
              <a:t>3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7680960" y="4736592"/>
            <a:ext cx="3959352" cy="27432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/>
            <a:r>
              <a:rPr sz="1450" b="1" i="0">
                <a:solidFill>
                  <a:srgbClr val="111827"/>
                </a:solidFill>
                <a:latin typeface="Calibri"/>
              </a:rPr>
              <a:t>WPRDC + PRT open data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7680960" y="5020055"/>
            <a:ext cx="3959352" cy="4572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/>
            <a:r>
              <a:rPr sz="1200" b="0" i="0">
                <a:solidFill>
                  <a:srgbClr val="374151"/>
                </a:solidFill>
                <a:latin typeface="Calibri"/>
              </a:rPr>
              <a:t>Hospitals, schools, clinics, 2,696 bus stops: the tiers</a:t>
            </a:r>
          </a:p>
        </p:txBody>
      </p:sp>
      <p:sp>
        <p:nvSpPr>
          <p:cNvPr id="55" name="Rounded Rectangle 54"/>
          <p:cNvSpPr/>
          <p:nvPr/>
        </p:nvSpPr>
        <p:spPr>
          <a:xfrm>
            <a:off x="7178040" y="5522975"/>
            <a:ext cx="347472" cy="347472"/>
          </a:xfrm>
          <a:prstGeom prst="roundRect">
            <a:avLst>
              <a:gd name="adj" fmla="val 50000"/>
            </a:avLst>
          </a:prstGeom>
          <a:solidFill>
            <a:srgbClr val="0F766E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6" name="TextBox 55"/>
          <p:cNvSpPr txBox="1"/>
          <p:nvPr/>
        </p:nvSpPr>
        <p:spPr>
          <a:xfrm>
            <a:off x="7178040" y="5522975"/>
            <a:ext cx="347472" cy="347472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  <a:latin typeface="Calibri"/>
              </a:rPr>
              <a:t>4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7680960" y="5504688"/>
            <a:ext cx="3959352" cy="27432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/>
            <a:r>
              <a:rPr sz="1450" b="1" i="0">
                <a:solidFill>
                  <a:srgbClr val="111827"/>
                </a:solidFill>
                <a:latin typeface="Calibri"/>
              </a:rPr>
              <a:t>RampNet dataset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7680960" y="5788151"/>
            <a:ext cx="3959352" cy="4572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/>
            <a:r>
              <a:rPr sz="1200" b="0" i="0">
                <a:solidFill>
                  <a:srgbClr val="374151"/>
                </a:solidFill>
                <a:latin typeface="Calibri"/>
              </a:rPr>
              <a:t>214,376 street panoramas (New York, Portland, Bend)</a:t>
            </a:r>
          </a:p>
          <a:p>
            <a:pPr algn="l"/>
            <a:r>
              <a:rPr sz="1200" b="0" i="0">
                <a:solidFill>
                  <a:srgbClr val="374151"/>
                </a:solidFill>
                <a:latin typeface="Calibri"/>
              </a:rPr>
              <a:t>Only detects whether a curb ramp is there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9184"/>
            <a:ext cx="6858000" cy="27432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/>
            <a:r>
              <a:rPr sz="1200" b="1" i="0" spc="80">
                <a:solidFill>
                  <a:srgbClr val="0F766E"/>
                </a:solidFill>
                <a:latin typeface="Calibri"/>
              </a:rPr>
              <a:t>04   </a:t>
            </a:r>
            <a:r>
              <a:rPr sz="1200" b="1" i="0" spc="80">
                <a:solidFill>
                  <a:srgbClr val="6B7280"/>
                </a:solidFill>
                <a:latin typeface="Calibri"/>
              </a:rPr>
              <a:t>EVALUATION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754880" y="329184"/>
            <a:ext cx="6885432" cy="27432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r"/>
            <a:r>
              <a:rPr sz="1100" b="0" i="0">
                <a:solidFill>
                  <a:srgbClr val="6B7280"/>
                </a:solidFill>
                <a:latin typeface="Calibri"/>
              </a:rPr>
              <a:t>Sidewalk Scanner  ·  Team YOLO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03504"/>
            <a:ext cx="11091672" cy="6858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/>
            <a:r>
              <a:rPr sz="2800" b="1" i="0">
                <a:solidFill>
                  <a:srgbClr val="111827"/>
                </a:solidFill>
                <a:latin typeface="Calibri"/>
              </a:rPr>
              <a:t>Scored on Pittsburgh only: per barrier type, per tier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045952" y="6547104"/>
            <a:ext cx="594360" cy="201168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r"/>
            <a:r>
              <a:rPr sz="900" b="0" i="0">
                <a:solidFill>
                  <a:srgbClr val="6B7280"/>
                </a:solidFill>
                <a:latin typeface="Calibri"/>
              </a:rPr>
              <a:t>4 / 5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508760"/>
            <a:ext cx="7086600" cy="256032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/>
            <a:r>
              <a:rPr sz="1100" b="1" i="0" spc="80">
                <a:solidFill>
                  <a:srgbClr val="6B7280"/>
                </a:solidFill>
                <a:latin typeface="Calibri"/>
              </a:rPr>
              <a:t>TWO NUMBERS, PER TIER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48640" y="1847088"/>
            <a:ext cx="3429000" cy="1481328"/>
          </a:xfrm>
          <a:prstGeom prst="roundRect">
            <a:avLst>
              <a:gd name="adj" fmla="val 6172"/>
            </a:avLst>
          </a:prstGeom>
          <a:solidFill>
            <a:srgbClr val="F3F4F6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" y="1975104"/>
            <a:ext cx="2011680" cy="50292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/>
            <a:r>
              <a:rPr sz="2800" b="1" i="0">
                <a:solidFill>
                  <a:srgbClr val="0F766E"/>
                </a:solidFill>
                <a:latin typeface="Calibri"/>
              </a:rPr>
              <a:t>Found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285999" y="2103120"/>
            <a:ext cx="1463040" cy="32004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r"/>
            <a:r>
              <a:rPr sz="1200" b="0" i="0">
                <a:solidFill>
                  <a:srgbClr val="6B7280"/>
                </a:solidFill>
                <a:latin typeface="Calibri"/>
              </a:rPr>
              <a:t>(recall)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77240" y="2560320"/>
            <a:ext cx="2971800" cy="6858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/>
            <a:r>
              <a:rPr sz="1600" b="0" i="0">
                <a:solidFill>
                  <a:srgbClr val="374151"/>
                </a:solidFill>
                <a:latin typeface="Calibri"/>
              </a:rPr>
              <a:t>Of the real barriers in Tier 1, what share did we flag?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206240" y="1847088"/>
            <a:ext cx="3429000" cy="1481328"/>
          </a:xfrm>
          <a:prstGeom prst="roundRect">
            <a:avLst>
              <a:gd name="adj" fmla="val 6172"/>
            </a:avLst>
          </a:prstGeom>
          <a:solidFill>
            <a:srgbClr val="F3F4F6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434840" y="1975104"/>
            <a:ext cx="2011680" cy="50292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/>
            <a:r>
              <a:rPr sz="2800" b="1" i="0">
                <a:solidFill>
                  <a:srgbClr val="0F766E"/>
                </a:solidFill>
                <a:latin typeface="Calibri"/>
              </a:rPr>
              <a:t>Right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943600" y="2103120"/>
            <a:ext cx="1463040" cy="32004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r"/>
            <a:r>
              <a:rPr sz="1200" b="0" i="0">
                <a:solidFill>
                  <a:srgbClr val="6B7280"/>
                </a:solidFill>
                <a:latin typeface="Calibri"/>
              </a:rPr>
              <a:t>(precision)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434840" y="2560320"/>
            <a:ext cx="2971800" cy="6858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/>
            <a:r>
              <a:rPr sz="1600" b="0" i="0">
                <a:solidFill>
                  <a:srgbClr val="374151"/>
                </a:solidFill>
                <a:latin typeface="Calibri"/>
              </a:rPr>
              <a:t>Of our Tier 1 flags, what share are real barriers?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48640" y="3639312"/>
            <a:ext cx="7086600" cy="256032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/>
            <a:r>
              <a:rPr sz="1100" b="1" i="0" spc="80">
                <a:solidFill>
                  <a:srgbClr val="6B7280"/>
                </a:solidFill>
                <a:latin typeface="Calibri"/>
              </a:rPr>
              <a:t>HOW WE CHECK THE TRUTH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48640" y="3977639"/>
            <a:ext cx="2209800" cy="2258568"/>
          </a:xfrm>
          <a:prstGeom prst="roundRect">
            <a:avLst>
              <a:gd name="adj" fmla="val 4137"/>
            </a:avLst>
          </a:prstGeom>
          <a:solidFill>
            <a:srgbClr val="FFFFFF"/>
          </a:solidFill>
          <a:ln w="9525">
            <a:solidFill>
              <a:srgbClr val="D1D5D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49808" y="4133087"/>
            <a:ext cx="1844040" cy="54864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/>
            <a:r>
              <a:rPr sz="3000" b="1" i="0">
                <a:solidFill>
                  <a:srgbClr val="111827"/>
                </a:solidFill>
                <a:latin typeface="Calibri"/>
              </a:rPr>
              <a:t>559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49808" y="4773168"/>
            <a:ext cx="1844040" cy="128016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/>
            <a:r>
              <a:rPr sz="1500" b="0" i="0">
                <a:solidFill>
                  <a:srgbClr val="374151"/>
                </a:solidFill>
                <a:latin typeface="Calibri"/>
              </a:rPr>
              <a:t>held-out Pittsburgh photos with crowd votes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2987040" y="3977639"/>
            <a:ext cx="2209800" cy="2258568"/>
          </a:xfrm>
          <a:prstGeom prst="roundRect">
            <a:avLst>
              <a:gd name="adj" fmla="val 4137"/>
            </a:avLst>
          </a:prstGeom>
          <a:solidFill>
            <a:srgbClr val="FFFFFF"/>
          </a:solidFill>
          <a:ln w="9525">
            <a:solidFill>
              <a:srgbClr val="D1D5D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3188208" y="4133087"/>
            <a:ext cx="1844040" cy="54864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/>
            <a:r>
              <a:rPr sz="3000" b="1" i="0">
                <a:solidFill>
                  <a:srgbClr val="111827"/>
                </a:solidFill>
                <a:latin typeface="Calibri"/>
              </a:rPr>
              <a:t>300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188208" y="4773168"/>
            <a:ext cx="1844040" cy="128016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/>
            <a:r>
              <a:rPr sz="1500" b="0" i="0">
                <a:solidFill>
                  <a:srgbClr val="374151"/>
                </a:solidFill>
                <a:latin typeface="Calibri"/>
              </a:rPr>
              <a:t>Mapillary photos we hand-label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5425439" y="3977639"/>
            <a:ext cx="2209800" cy="2258568"/>
          </a:xfrm>
          <a:prstGeom prst="roundRect">
            <a:avLst>
              <a:gd name="adj" fmla="val 4137"/>
            </a:avLst>
          </a:prstGeom>
          <a:solidFill>
            <a:srgbClr val="FFFFFF"/>
          </a:solidFill>
          <a:ln w="9525">
            <a:solidFill>
              <a:srgbClr val="D1D5D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5626607" y="4133087"/>
            <a:ext cx="1844040" cy="54864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/>
            <a:r>
              <a:rPr sz="3000" b="1" i="0">
                <a:solidFill>
                  <a:srgbClr val="111827"/>
                </a:solidFill>
                <a:latin typeface="Calibri"/>
              </a:rPr>
              <a:t>In person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626607" y="4773168"/>
            <a:ext cx="1844040" cy="128016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/>
            <a:r>
              <a:rPr sz="1500" b="0" i="0">
                <a:solidFill>
                  <a:srgbClr val="374151"/>
                </a:solidFill>
                <a:latin typeface="Calibri"/>
              </a:rPr>
              <a:t>We go to sampled spots and check them ourselves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001000" y="1508760"/>
            <a:ext cx="3639312" cy="256032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/>
            <a:r>
              <a:rPr sz="1100" b="1" i="0" spc="80">
                <a:solidFill>
                  <a:srgbClr val="6B7280"/>
                </a:solidFill>
                <a:latin typeface="Calibri"/>
              </a:rPr>
              <a:t>TARGETS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8001000" y="1847088"/>
            <a:ext cx="3639312" cy="1389888"/>
          </a:xfrm>
          <a:prstGeom prst="roundRect">
            <a:avLst>
              <a:gd name="adj" fmla="val 6578"/>
            </a:avLst>
          </a:prstGeom>
          <a:solidFill>
            <a:srgbClr val="E6F2F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8229600" y="1993392"/>
            <a:ext cx="3182112" cy="50292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/>
            <a:r>
              <a:rPr sz="2600" b="1" i="0">
                <a:solidFill>
                  <a:srgbClr val="0F766E"/>
                </a:solidFill>
                <a:latin typeface="Calibri"/>
              </a:rPr>
              <a:t>≥ 80%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229600" y="2542032"/>
            <a:ext cx="3182112" cy="64008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/>
            <a:r>
              <a:rPr sz="1400" b="0" i="0">
                <a:solidFill>
                  <a:srgbClr val="374151"/>
                </a:solidFill>
                <a:latin typeface="Calibri"/>
              </a:rPr>
              <a:t>of Tier 1 flags are real barriers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8001000" y="3346704"/>
            <a:ext cx="3639312" cy="1389888"/>
          </a:xfrm>
          <a:prstGeom prst="roundRect">
            <a:avLst>
              <a:gd name="adj" fmla="val 6578"/>
            </a:avLst>
          </a:prstGeom>
          <a:solidFill>
            <a:srgbClr val="FFFFFF"/>
          </a:solidFill>
          <a:ln w="9525">
            <a:solidFill>
              <a:srgbClr val="D1D5D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8229600" y="3493008"/>
            <a:ext cx="3182112" cy="50292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/>
            <a:r>
              <a:rPr sz="2600" b="1" i="0">
                <a:solidFill>
                  <a:srgbClr val="111827"/>
                </a:solidFill>
                <a:latin typeface="Calibri"/>
              </a:rPr>
              <a:t>&gt; 40%  ·  &gt; 27%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8229600" y="4041648"/>
            <a:ext cx="3182112" cy="64008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/>
            <a:r>
              <a:rPr sz="1400" b="0" i="0">
                <a:solidFill>
                  <a:srgbClr val="374151"/>
                </a:solidFill>
                <a:latin typeface="Calibri"/>
              </a:rPr>
              <a:t>of obstacles · surface problems found, beating human labellers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8001000" y="4846320"/>
            <a:ext cx="3639312" cy="1389888"/>
          </a:xfrm>
          <a:prstGeom prst="roundRect">
            <a:avLst>
              <a:gd name="adj" fmla="val 6578"/>
            </a:avLst>
          </a:prstGeom>
          <a:solidFill>
            <a:srgbClr val="FFFFFF"/>
          </a:solidFill>
          <a:ln w="9525">
            <a:solidFill>
              <a:srgbClr val="D1D5D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8229600" y="4992624"/>
            <a:ext cx="3182112" cy="50292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/>
            <a:r>
              <a:rPr sz="2600" b="1" i="0">
                <a:solidFill>
                  <a:srgbClr val="111827"/>
                </a:solidFill>
                <a:latin typeface="Calibri"/>
              </a:rPr>
              <a:t>2 baselines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8229600" y="5541264"/>
            <a:ext cx="3182112" cy="64008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/>
            <a:r>
              <a:rPr sz="1400" b="0" i="0">
                <a:solidFill>
                  <a:srgbClr val="374151"/>
                </a:solidFill>
                <a:latin typeface="Calibri"/>
              </a:rPr>
              <a:t>beat zero-shot CLIP and a zero-shot vision-language model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9184"/>
            <a:ext cx="6858000" cy="27432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/>
            <a:r>
              <a:rPr sz="1200" b="1" i="0" spc="80">
                <a:solidFill>
                  <a:srgbClr val="0F766E"/>
                </a:solidFill>
                <a:latin typeface="Calibri"/>
              </a:rPr>
              <a:t>05   </a:t>
            </a:r>
            <a:r>
              <a:rPr sz="1200" b="1" i="0" spc="80">
                <a:solidFill>
                  <a:srgbClr val="6B7280"/>
                </a:solidFill>
                <a:latin typeface="Calibri"/>
              </a:rPr>
              <a:t>RISK  ·  HELP WANTED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754880" y="329184"/>
            <a:ext cx="6885432" cy="27432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r"/>
            <a:r>
              <a:rPr sz="1100" b="0" i="0">
                <a:solidFill>
                  <a:srgbClr val="6B7280"/>
                </a:solidFill>
                <a:latin typeface="Calibri"/>
              </a:rPr>
              <a:t>Sidewalk Scanner  ·  Team YOLO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03504"/>
            <a:ext cx="11091672" cy="6858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/>
            <a:r>
              <a:rPr sz="2800" b="1" i="0">
                <a:solidFill>
                  <a:srgbClr val="111827"/>
                </a:solidFill>
                <a:latin typeface="Calibri"/>
              </a:rPr>
              <a:t>Biggest risk: a model trained elsewhere may fail in Pittsburgh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045952" y="6547104"/>
            <a:ext cx="594360" cy="201168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r"/>
            <a:r>
              <a:rPr sz="900" b="0" i="0">
                <a:solidFill>
                  <a:srgbClr val="6B7280"/>
                </a:solidFill>
                <a:latin typeface="Calibri"/>
              </a:rPr>
              <a:t>5 / 5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481328"/>
            <a:ext cx="7635240" cy="292608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/>
            <a:r>
              <a:rPr sz="1500" b="1" i="0">
                <a:solidFill>
                  <a:srgbClr val="0F766E"/>
                </a:solidFill>
                <a:latin typeface="Calibri"/>
              </a:rPr>
              <a:t>1  </a:t>
            </a:r>
            <a:r>
              <a:rPr sz="1500" b="1" i="0">
                <a:solidFill>
                  <a:srgbClr val="111827"/>
                </a:solidFill>
                <a:latin typeface="Calibri"/>
              </a:rPr>
              <a:t>Different city, different streets</a:t>
            </a:r>
          </a:p>
        </p:txBody>
      </p:sp>
      <p:pic>
        <p:nvPicPr>
          <p:cNvPr id="7" name="Picture 6" descr="rampnet_nyc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8640" y="1847088"/>
            <a:ext cx="1737360" cy="1737360"/>
          </a:xfrm>
          <a:prstGeom prst="rect">
            <a:avLst/>
          </a:prstGeom>
        </p:spPr>
      </p:pic>
      <p:sp>
        <p:nvSpPr>
          <p:cNvPr id="8" name="Rectangle 7"/>
          <p:cNvSpPr/>
          <p:nvPr/>
        </p:nvSpPr>
        <p:spPr>
          <a:xfrm>
            <a:off x="548640" y="3310128"/>
            <a:ext cx="1737360" cy="274320"/>
          </a:xfrm>
          <a:prstGeom prst="rect">
            <a:avLst/>
          </a:prstGeom>
          <a:solidFill>
            <a:srgbClr val="111827">
              <a:alpha val="72000"/>
            </a:srgbClr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21792" y="3310128"/>
            <a:ext cx="1627631" cy="27432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  <a:latin typeface="Calibri"/>
              </a:rPr>
              <a:t>Trained on: New York</a:t>
            </a:r>
          </a:p>
        </p:txBody>
      </p:sp>
      <p:pic>
        <p:nvPicPr>
          <p:cNvPr id="10" name="Picture 9" descr="pgh_stairs_14480.jp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816352" y="1847088"/>
            <a:ext cx="1737360" cy="1737360"/>
          </a:xfrm>
          <a:prstGeom prst="rect">
            <a:avLst/>
          </a:prstGeom>
        </p:spPr>
      </p:pic>
      <p:sp>
        <p:nvSpPr>
          <p:cNvPr id="11" name="Rectangle 10"/>
          <p:cNvSpPr/>
          <p:nvPr/>
        </p:nvSpPr>
        <p:spPr>
          <a:xfrm>
            <a:off x="2816352" y="3310128"/>
            <a:ext cx="1737360" cy="274320"/>
          </a:xfrm>
          <a:prstGeom prst="rect">
            <a:avLst/>
          </a:prstGeom>
          <a:solidFill>
            <a:srgbClr val="111827">
              <a:alpha val="72000"/>
            </a:srgbClr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2889504" y="3310128"/>
            <a:ext cx="1627631" cy="27432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  <a:latin typeface="Calibri"/>
              </a:rPr>
              <a:t>Pittsburgh: stairs</a:t>
            </a:r>
          </a:p>
        </p:txBody>
      </p:sp>
      <p:pic>
        <p:nvPicPr>
          <p:cNvPr id="13" name="Picture 12" descr="pgh_cobble_9626.jp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645152" y="1847088"/>
            <a:ext cx="1737360" cy="1737360"/>
          </a:xfrm>
          <a:prstGeom prst="rect">
            <a:avLst/>
          </a:prstGeom>
        </p:spPr>
      </p:pic>
      <p:sp>
        <p:nvSpPr>
          <p:cNvPr id="14" name="Rectangle 13"/>
          <p:cNvSpPr/>
          <p:nvPr/>
        </p:nvSpPr>
        <p:spPr>
          <a:xfrm>
            <a:off x="4645152" y="3310128"/>
            <a:ext cx="1737360" cy="274320"/>
          </a:xfrm>
          <a:prstGeom prst="rect">
            <a:avLst/>
          </a:prstGeom>
          <a:solidFill>
            <a:srgbClr val="111827">
              <a:alpha val="72000"/>
            </a:srgbClr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718304" y="3310128"/>
            <a:ext cx="1627631" cy="27432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  <a:latin typeface="Calibri"/>
              </a:rPr>
              <a:t>Pittsburgh: cobblestone</a:t>
            </a:r>
          </a:p>
        </p:txBody>
      </p:sp>
      <p:cxnSp>
        <p:nvCxnSpPr>
          <p:cNvPr id="16" name="Connector 15"/>
          <p:cNvCxnSpPr/>
          <p:nvPr/>
        </p:nvCxnSpPr>
        <p:spPr>
          <a:xfrm>
            <a:off x="2359152" y="2715768"/>
            <a:ext cx="365760" cy="0"/>
          </a:xfrm>
          <a:prstGeom prst="line">
            <a:avLst/>
          </a:prstGeom>
          <a:ln w="28575">
            <a:solidFill>
              <a:srgbClr val="6B7280"/>
            </a:solidFill>
            <a:tailEnd type="triangle" w="med" len="med"/>
          </a:ln>
        </p:spPr>
      </p:cxnSp>
      <p:sp>
        <p:nvSpPr>
          <p:cNvPr id="17" name="TextBox 16"/>
          <p:cNvSpPr txBox="1"/>
          <p:nvPr/>
        </p:nvSpPr>
        <p:spPr>
          <a:xfrm>
            <a:off x="6583680" y="1828800"/>
            <a:ext cx="1600200" cy="50292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/>
            <a:r>
              <a:rPr sz="2800" b="1" i="0">
                <a:solidFill>
                  <a:srgbClr val="0F766E"/>
                </a:solidFill>
                <a:latin typeface="Calibri"/>
              </a:rPr>
              <a:t>1,128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583680" y="2331720"/>
            <a:ext cx="1600200" cy="4572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/>
            <a:r>
              <a:rPr sz="1250" b="0" i="0">
                <a:solidFill>
                  <a:srgbClr val="374151"/>
                </a:solidFill>
                <a:latin typeface="Calibri"/>
              </a:rPr>
              <a:t>public stairways in Pittsburgh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583680" y="2880360"/>
            <a:ext cx="1600200" cy="6858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/>
            <a:r>
              <a:rPr sz="1250" b="0" i="0">
                <a:solidFill>
                  <a:srgbClr val="6B7280"/>
                </a:solidFill>
                <a:latin typeface="Calibri"/>
              </a:rPr>
              <a:t>plus hills, brick and narrow sidewalks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48640" y="3694176"/>
            <a:ext cx="7635240" cy="27432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/>
            <a:r>
              <a:rPr sz="1250" b="1" i="0">
                <a:solidFill>
                  <a:srgbClr val="0F766E"/>
                </a:solidFill>
                <a:latin typeface="Calibri"/>
              </a:rPr>
              <a:t>→  </a:t>
            </a:r>
            <a:r>
              <a:rPr sz="1250" b="0" i="0">
                <a:solidFill>
                  <a:srgbClr val="0F766E"/>
                </a:solidFill>
                <a:latin typeface="Calibri"/>
              </a:rPr>
              <a:t>Test only on Pittsburgh, and check spots in person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548640" y="4114800"/>
            <a:ext cx="3703320" cy="2148840"/>
          </a:xfrm>
          <a:prstGeom prst="roundRect">
            <a:avLst>
              <a:gd name="adj" fmla="val 4255"/>
            </a:avLst>
          </a:prstGeom>
          <a:solidFill>
            <a:srgbClr val="F3F4F6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731520" y="4242816"/>
            <a:ext cx="3337560" cy="292608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/>
            <a:r>
              <a:rPr sz="1500" b="1" i="0">
                <a:solidFill>
                  <a:srgbClr val="0F766E"/>
                </a:solidFill>
                <a:latin typeface="Calibri"/>
              </a:rPr>
              <a:t>2  </a:t>
            </a:r>
            <a:r>
              <a:rPr sz="1500" b="1" i="0">
                <a:solidFill>
                  <a:srgbClr val="111827"/>
                </a:solidFill>
                <a:latin typeface="Calibri"/>
              </a:rPr>
              <a:t>Photo coverage unknown</a:t>
            </a:r>
          </a:p>
        </p:txBody>
      </p:sp>
      <p:pic>
        <p:nvPicPr>
          <p:cNvPr id="23" name="Picture 22" descr="map_cover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31520" y="4626864"/>
            <a:ext cx="1417320" cy="1120785"/>
          </a:xfrm>
          <a:prstGeom prst="rect">
            <a:avLst/>
          </a:prstGeom>
        </p:spPr>
      </p:pic>
      <p:sp>
        <p:nvSpPr>
          <p:cNvPr id="24" name="Rounded Rectangle 23"/>
          <p:cNvSpPr/>
          <p:nvPr/>
        </p:nvSpPr>
        <p:spPr>
          <a:xfrm>
            <a:off x="1239012" y="4986088"/>
            <a:ext cx="402336" cy="402336"/>
          </a:xfrm>
          <a:prstGeom prst="roundRect">
            <a:avLst>
              <a:gd name="adj" fmla="val 50000"/>
            </a:avLst>
          </a:prstGeom>
          <a:solidFill>
            <a:srgbClr val="111827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1239012" y="4986088"/>
            <a:ext cx="402336" cy="402336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/>
            <a:r>
              <a:rPr sz="1800" b="1" i="0">
                <a:solidFill>
                  <a:srgbClr val="FFFFFF"/>
                </a:solidFill>
                <a:latin typeface="Calibri"/>
              </a:rPr>
              <a:t>?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2331720" y="4617720"/>
            <a:ext cx="1737360" cy="41148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/>
            <a:r>
              <a:rPr sz="2400" b="1" i="0">
                <a:solidFill>
                  <a:srgbClr val="111827"/>
                </a:solidFill>
                <a:latin typeface="Calibri"/>
              </a:rPr>
              <a:t>1,324 km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2331720" y="5029200"/>
            <a:ext cx="1737360" cy="73152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/>
            <a:r>
              <a:rPr sz="1250" b="0" i="0">
                <a:solidFill>
                  <a:srgbClr val="374151"/>
                </a:solidFill>
                <a:latin typeface="Calibri"/>
              </a:rPr>
              <a:t>of unaudited streets. How many have usable photos?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31520" y="5879592"/>
            <a:ext cx="3429000" cy="27432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/>
            <a:r>
              <a:rPr sz="1250" b="1" i="0">
                <a:solidFill>
                  <a:srgbClr val="0F766E"/>
                </a:solidFill>
                <a:latin typeface="Calibri"/>
              </a:rPr>
              <a:t>→  </a:t>
            </a:r>
            <a:r>
              <a:rPr sz="1250" b="0" i="0">
                <a:solidFill>
                  <a:srgbClr val="0F766E"/>
                </a:solidFill>
                <a:latin typeface="Calibri"/>
              </a:rPr>
              <a:t>Map photo coverage first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4480559" y="4114800"/>
            <a:ext cx="3703320" cy="2148840"/>
          </a:xfrm>
          <a:prstGeom prst="roundRect">
            <a:avLst>
              <a:gd name="adj" fmla="val 4255"/>
            </a:avLst>
          </a:prstGeom>
          <a:solidFill>
            <a:srgbClr val="F3F4F6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4663440" y="4242816"/>
            <a:ext cx="3337560" cy="292608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/>
            <a:r>
              <a:rPr sz="1500" b="1" i="0">
                <a:solidFill>
                  <a:srgbClr val="0F766E"/>
                </a:solidFill>
                <a:latin typeface="Calibri"/>
              </a:rPr>
              <a:t>3  </a:t>
            </a:r>
            <a:r>
              <a:rPr sz="1500" b="1" i="0">
                <a:solidFill>
                  <a:srgbClr val="111827"/>
                </a:solidFill>
                <a:latin typeface="Calibri"/>
              </a:rPr>
              <a:t>Sparse labels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4663440" y="4626864"/>
            <a:ext cx="987552" cy="731520"/>
          </a:xfrm>
          <a:prstGeom prst="roundRect">
            <a:avLst>
              <a:gd name="adj" fmla="val 7500"/>
            </a:avLst>
          </a:prstGeom>
          <a:solidFill>
            <a:srgbClr val="FFFFFF"/>
          </a:solidFill>
          <a:ln w="9525">
            <a:solidFill>
              <a:srgbClr val="D1D5D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2" name="Trapezoid 31"/>
          <p:cNvSpPr/>
          <p:nvPr/>
        </p:nvSpPr>
        <p:spPr>
          <a:xfrm>
            <a:off x="4928616" y="5010912"/>
            <a:ext cx="457200" cy="237744"/>
          </a:xfrm>
          <a:prstGeom prst="trapezoid">
            <a:avLst/>
          </a:prstGeom>
          <a:solidFill>
            <a:srgbClr val="475569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3" name="Rounded Rectangle 32"/>
          <p:cNvSpPr/>
          <p:nvPr/>
        </p:nvSpPr>
        <p:spPr>
          <a:xfrm>
            <a:off x="4736592" y="4690872"/>
            <a:ext cx="566928" cy="219456"/>
          </a:xfrm>
          <a:prstGeom prst="roundRect">
            <a:avLst>
              <a:gd name="adj" fmla="val 50000"/>
            </a:avLst>
          </a:prstGeom>
          <a:solidFill>
            <a:srgbClr val="0F766E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4736592" y="4690872"/>
            <a:ext cx="566928" cy="219456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/>
            <a:r>
              <a:rPr sz="950" b="1" i="0">
                <a:solidFill>
                  <a:srgbClr val="FFFFFF"/>
                </a:solidFill>
                <a:latin typeface="Calibri"/>
              </a:rPr>
              <a:t>label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5779008" y="4626864"/>
            <a:ext cx="987552" cy="731520"/>
          </a:xfrm>
          <a:prstGeom prst="roundRect">
            <a:avLst>
              <a:gd name="adj" fmla="val 7500"/>
            </a:avLst>
          </a:prstGeom>
          <a:solidFill>
            <a:srgbClr val="FFFFFF"/>
          </a:solidFill>
          <a:ln w="9525">
            <a:solidFill>
              <a:srgbClr val="D1D5D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6" name="Trapezoid 35"/>
          <p:cNvSpPr/>
          <p:nvPr/>
        </p:nvSpPr>
        <p:spPr>
          <a:xfrm>
            <a:off x="6044184" y="5010912"/>
            <a:ext cx="457200" cy="237744"/>
          </a:xfrm>
          <a:prstGeom prst="trapezoid">
            <a:avLst/>
          </a:prstGeom>
          <a:solidFill>
            <a:srgbClr val="475569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5870448" y="4690872"/>
            <a:ext cx="822960" cy="219456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/>
            <a:r>
              <a:rPr sz="950" b="0" i="0">
                <a:solidFill>
                  <a:srgbClr val="6B7280"/>
                </a:solidFill>
                <a:latin typeface="Calibri"/>
              </a:rPr>
              <a:t>no label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6894576" y="4626864"/>
            <a:ext cx="987552" cy="731520"/>
          </a:xfrm>
          <a:prstGeom prst="roundRect">
            <a:avLst>
              <a:gd name="adj" fmla="val 7500"/>
            </a:avLst>
          </a:prstGeom>
          <a:solidFill>
            <a:srgbClr val="FFFFFF"/>
          </a:solidFill>
          <a:ln w="9525">
            <a:solidFill>
              <a:srgbClr val="D1D5D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9" name="Trapezoid 38"/>
          <p:cNvSpPr/>
          <p:nvPr/>
        </p:nvSpPr>
        <p:spPr>
          <a:xfrm>
            <a:off x="7159752" y="5010912"/>
            <a:ext cx="457200" cy="237744"/>
          </a:xfrm>
          <a:prstGeom prst="trapezoid">
            <a:avLst/>
          </a:prstGeom>
          <a:solidFill>
            <a:srgbClr val="475569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6986016" y="4690872"/>
            <a:ext cx="822960" cy="219456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/>
            <a:r>
              <a:rPr sz="950" b="0" i="0">
                <a:solidFill>
                  <a:srgbClr val="6B7280"/>
                </a:solidFill>
                <a:latin typeface="Calibri"/>
              </a:rPr>
              <a:t>no label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4663440" y="5458968"/>
            <a:ext cx="3337560" cy="41148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/>
            <a:r>
              <a:rPr sz="1250" b="0" i="0">
                <a:solidFill>
                  <a:srgbClr val="374151"/>
                </a:solidFill>
                <a:latin typeface="Calibri"/>
              </a:rPr>
              <a:t>One ramp, three photos, one label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4663440" y="5879592"/>
            <a:ext cx="3429000" cy="27432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/>
            <a:r>
              <a:rPr sz="1250" b="1" i="0">
                <a:solidFill>
                  <a:srgbClr val="0F766E"/>
                </a:solidFill>
                <a:latin typeface="Calibri"/>
              </a:rPr>
              <a:t>→  </a:t>
            </a:r>
            <a:r>
              <a:rPr sz="1250" b="0" i="0">
                <a:solidFill>
                  <a:srgbClr val="0F766E"/>
                </a:solidFill>
                <a:latin typeface="Calibri"/>
              </a:rPr>
              <a:t>RampNet labels every nearby photo</a:t>
            </a:r>
          </a:p>
        </p:txBody>
      </p:sp>
      <p:sp>
        <p:nvSpPr>
          <p:cNvPr id="43" name="Rounded Rectangle 42"/>
          <p:cNvSpPr/>
          <p:nvPr/>
        </p:nvSpPr>
        <p:spPr>
          <a:xfrm>
            <a:off x="8503920" y="1481328"/>
            <a:ext cx="3136392" cy="4782312"/>
          </a:xfrm>
          <a:prstGeom prst="roundRect">
            <a:avLst>
              <a:gd name="adj" fmla="val 3498"/>
            </a:avLst>
          </a:prstGeom>
          <a:solidFill>
            <a:srgbClr val="E6F2F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8732520" y="1664208"/>
            <a:ext cx="2679192" cy="41148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/>
            <a:r>
              <a:rPr sz="2000" b="1" i="0">
                <a:solidFill>
                  <a:srgbClr val="0F766E"/>
                </a:solidFill>
                <a:latin typeface="Calibri"/>
              </a:rPr>
              <a:t>Where we'd love help</a:t>
            </a:r>
          </a:p>
        </p:txBody>
      </p:sp>
      <p:sp>
        <p:nvSpPr>
          <p:cNvPr id="45" name="Rounded Rectangle 44"/>
          <p:cNvSpPr/>
          <p:nvPr/>
        </p:nvSpPr>
        <p:spPr>
          <a:xfrm>
            <a:off x="8732520" y="2295144"/>
            <a:ext cx="310896" cy="310896"/>
          </a:xfrm>
          <a:prstGeom prst="roundRect">
            <a:avLst>
              <a:gd name="adj" fmla="val 50000"/>
            </a:avLst>
          </a:prstGeom>
          <a:solidFill>
            <a:srgbClr val="0F766E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8732520" y="2295144"/>
            <a:ext cx="310896" cy="310896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Calibri"/>
              </a:rPr>
              <a:t>1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9162288" y="2267712"/>
            <a:ext cx="2267712" cy="292608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/>
            <a:r>
              <a:rPr sz="1500" b="1" i="0">
                <a:solidFill>
                  <a:srgbClr val="111827"/>
                </a:solidFill>
                <a:latin typeface="Calibri"/>
              </a:rPr>
              <a:t>Imagery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9162288" y="2569464"/>
            <a:ext cx="2267712" cy="566928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/>
            <a:r>
              <a:rPr sz="1250" b="0" i="0">
                <a:solidFill>
                  <a:srgbClr val="374151"/>
                </a:solidFill>
                <a:latin typeface="Calibri"/>
              </a:rPr>
              <a:t>Photos of unaudited streets</a:t>
            </a:r>
          </a:p>
        </p:txBody>
      </p:sp>
      <p:sp>
        <p:nvSpPr>
          <p:cNvPr id="49" name="Rounded Rectangle 48"/>
          <p:cNvSpPr/>
          <p:nvPr/>
        </p:nvSpPr>
        <p:spPr>
          <a:xfrm>
            <a:off x="8732520" y="3273551"/>
            <a:ext cx="310896" cy="310896"/>
          </a:xfrm>
          <a:prstGeom prst="roundRect">
            <a:avLst>
              <a:gd name="adj" fmla="val 50000"/>
            </a:avLst>
          </a:prstGeom>
          <a:solidFill>
            <a:srgbClr val="0F766E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8732520" y="3273551"/>
            <a:ext cx="310896" cy="310896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Calibri"/>
              </a:rPr>
              <a:t>2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9162288" y="3246120"/>
            <a:ext cx="2267712" cy="292608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/>
            <a:r>
              <a:rPr sz="1500" b="1" i="0">
                <a:solidFill>
                  <a:srgbClr val="111827"/>
                </a:solidFill>
                <a:latin typeface="Calibri"/>
              </a:rPr>
              <a:t>A DOMI planner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9162288" y="3547872"/>
            <a:ext cx="2267712" cy="566928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/>
            <a:r>
              <a:rPr sz="1250" b="0" i="0">
                <a:solidFill>
                  <a:srgbClr val="374151"/>
                </a:solidFill>
                <a:latin typeface="Calibri"/>
              </a:rPr>
              <a:t>Is our tier rule right? What list would you use?</a:t>
            </a:r>
          </a:p>
        </p:txBody>
      </p:sp>
      <p:sp>
        <p:nvSpPr>
          <p:cNvPr id="53" name="Rounded Rectangle 52"/>
          <p:cNvSpPr/>
          <p:nvPr/>
        </p:nvSpPr>
        <p:spPr>
          <a:xfrm>
            <a:off x="8732520" y="4251960"/>
            <a:ext cx="310896" cy="310896"/>
          </a:xfrm>
          <a:prstGeom prst="roundRect">
            <a:avLst>
              <a:gd name="adj" fmla="val 50000"/>
            </a:avLst>
          </a:prstGeom>
          <a:solidFill>
            <a:srgbClr val="0F766E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4" name="TextBox 53"/>
          <p:cNvSpPr txBox="1"/>
          <p:nvPr/>
        </p:nvSpPr>
        <p:spPr>
          <a:xfrm>
            <a:off x="8732520" y="4251960"/>
            <a:ext cx="310896" cy="310896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Calibri"/>
              </a:rPr>
              <a:t>3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9162288" y="4224528"/>
            <a:ext cx="2267712" cy="292608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/>
            <a:r>
              <a:rPr sz="1500" b="1" i="0">
                <a:solidFill>
                  <a:srgbClr val="111827"/>
                </a:solidFill>
                <a:latin typeface="Calibri"/>
              </a:rPr>
              <a:t>Disability advocates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9162288" y="4526280"/>
            <a:ext cx="2267712" cy="566928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/>
            <a:r>
              <a:rPr sz="1250" b="0" i="0">
                <a:solidFill>
                  <a:srgbClr val="374151"/>
                </a:solidFill>
                <a:latin typeface="Calibri"/>
              </a:rPr>
              <a:t>Review the tiers and the errors that matter most</a:t>
            </a:r>
          </a:p>
        </p:txBody>
      </p:sp>
      <p:sp>
        <p:nvSpPr>
          <p:cNvPr id="57" name="Rounded Rectangle 56"/>
          <p:cNvSpPr/>
          <p:nvPr/>
        </p:nvSpPr>
        <p:spPr>
          <a:xfrm>
            <a:off x="8732520" y="5230368"/>
            <a:ext cx="310896" cy="310896"/>
          </a:xfrm>
          <a:prstGeom prst="roundRect">
            <a:avLst>
              <a:gd name="adj" fmla="val 50000"/>
            </a:avLst>
          </a:prstGeom>
          <a:solidFill>
            <a:srgbClr val="0F766E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8" name="TextBox 57"/>
          <p:cNvSpPr txBox="1"/>
          <p:nvPr/>
        </p:nvSpPr>
        <p:spPr>
          <a:xfrm>
            <a:off x="8732520" y="5230368"/>
            <a:ext cx="310896" cy="310896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Calibri"/>
              </a:rPr>
              <a:t>4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9162288" y="5202936"/>
            <a:ext cx="2267712" cy="292608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/>
            <a:r>
              <a:rPr sz="1500" b="1" i="0">
                <a:solidFill>
                  <a:srgbClr val="111827"/>
                </a:solidFill>
                <a:latin typeface="Calibri"/>
              </a:rPr>
              <a:t>GPU hours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9162288" y="5504688"/>
            <a:ext cx="2267712" cy="566928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/>
            <a:r>
              <a:rPr sz="1250" b="0" i="0">
                <a:solidFill>
                  <a:srgbClr val="374151"/>
                </a:solidFill>
                <a:latin typeface="Calibri"/>
              </a:rPr>
              <a:t>To adapt the model to Pittsburgh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